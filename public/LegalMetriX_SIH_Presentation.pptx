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32720" cy="914400"/>
          </a:xfrm>
          <a:prstGeom prst="rect">
            <a:avLst/>
          </a:prstGeom>
          <a:noFill/>
        </p:spPr>
        <p:txBody>
          <a:bodyPr wrap="none">
            <a:spAutoFit/>
          </a:bodyPr>
          <a:lstStyle/>
          <a:p>
            <a:pPr algn="ctr">
              <a:defRPr sz="3600" b="1">
                <a:solidFill>
                  <a:srgbClr val="1E3A8A"/>
                </a:solidFill>
                <a:latin typeface="Georgia"/>
              </a:defRPr>
            </a:pPr>
            <a:r>
              <a:t>SMART INDIA HACKATHON 2024</a:t>
            </a:r>
          </a:p>
        </p:txBody>
      </p:sp>
      <p:sp>
        <p:nvSpPr>
          <p:cNvPr id="3" name="TextBox 2"/>
          <p:cNvSpPr txBox="1"/>
          <p:nvPr/>
        </p:nvSpPr>
        <p:spPr>
          <a:xfrm>
            <a:off x="9875520" y="365760"/>
            <a:ext cx="2011680" cy="914400"/>
          </a:xfrm>
          <a:prstGeom prst="rect">
            <a:avLst/>
          </a:prstGeom>
          <a:noFill/>
        </p:spPr>
        <p:txBody>
          <a:bodyPr wrap="none">
            <a:spAutoFit/>
          </a:bodyPr>
          <a:lstStyle/>
          <a:p>
            <a:pPr>
              <a:defRPr sz="1200" b="1">
                <a:solidFill>
                  <a:srgbClr val="1E3A8A"/>
                </a:solidFill>
                <a:latin typeface="Arial"/>
              </a:defRPr>
            </a:pPr>
            <a:r>
              <a:t>SMART INDIA</a:t>
            </a:r>
            <a:br/>
            <a:r>
              <a:t>HACKATHON</a:t>
            </a:r>
            <a:br/>
            <a:r>
              <a:t>2024</a:t>
            </a:r>
          </a:p>
        </p:txBody>
      </p:sp>
      <p:sp>
        <p:nvSpPr>
          <p:cNvPr id="4" name="TextBox 3"/>
          <p:cNvSpPr txBox="1"/>
          <p:nvPr/>
        </p:nvSpPr>
        <p:spPr>
          <a:xfrm>
            <a:off x="914400" y="1737360"/>
            <a:ext cx="10058400" cy="4389120"/>
          </a:xfrm>
          <a:prstGeom prst="rect">
            <a:avLst/>
          </a:prstGeom>
          <a:noFill/>
        </p:spPr>
        <p:txBody>
          <a:bodyPr wrap="square">
            <a:spAutoFit/>
          </a:bodyPr>
          <a:lstStyle/>
          <a:p>
            <a:pPr>
              <a:spcAft>
                <a:spcPts val="1600"/>
              </a:spcAft>
            </a:pPr>
            <a:r>
              <a:rPr sz="2000" b="1">
                <a:solidFill>
                  <a:srgbClr val="0F172A"/>
                </a:solidFill>
                <a:latin typeface="Arial"/>
              </a:rPr>
              <a:t>• Problem Statement ID -</a:t>
            </a:r>
            <a:r>
              <a:rPr sz="2000">
                <a:solidFill>
                  <a:srgbClr val="2563EB"/>
                </a:solidFill>
                <a:latin typeface="Arial"/>
              </a:rPr>
              <a:t> SIH-1634 (Ministry of Consumer Affairs, Food &amp; Public Distribution)</a:t>
            </a:r>
          </a:p>
          <a:p>
            <a:pPr>
              <a:spcAft>
                <a:spcPts val="1600"/>
              </a:spcAft>
            </a:pPr>
            <a:r>
              <a:rPr sz="2000" b="1">
                <a:solidFill>
                  <a:srgbClr val="0F172A"/>
                </a:solidFill>
                <a:latin typeface="Arial"/>
              </a:rPr>
              <a:t>• Problem Statement Title -</a:t>
            </a:r>
            <a:r>
              <a:rPr sz="2000">
                <a:solidFill>
                  <a:srgbClr val="2563EB"/>
                </a:solidFill>
                <a:latin typeface="Arial"/>
              </a:rPr>
              <a:t> AI-Powered Packaged Commodity Compliance &amp; Inspection System under Legal Metrology Act, 2009</a:t>
            </a:r>
          </a:p>
          <a:p>
            <a:pPr>
              <a:spcAft>
                <a:spcPts val="1600"/>
              </a:spcAft>
            </a:pPr>
            <a:r>
              <a:rPr sz="2000" b="1">
                <a:solidFill>
                  <a:srgbClr val="0F172A"/>
                </a:solidFill>
                <a:latin typeface="Arial"/>
              </a:rPr>
              <a:t>• Theme -</a:t>
            </a:r>
            <a:r>
              <a:rPr sz="2000">
                <a:solidFill>
                  <a:srgbClr val="2563EB"/>
                </a:solidFill>
                <a:latin typeface="Arial"/>
              </a:rPr>
              <a:t> Smart Automation / GovTech / Consumer Protection</a:t>
            </a:r>
          </a:p>
          <a:p>
            <a:pPr>
              <a:spcAft>
                <a:spcPts val="1600"/>
              </a:spcAft>
            </a:pPr>
            <a:r>
              <a:rPr sz="2000" b="1">
                <a:solidFill>
                  <a:srgbClr val="0F172A"/>
                </a:solidFill>
                <a:latin typeface="Arial"/>
              </a:rPr>
              <a:t>• PS Category -</a:t>
            </a:r>
            <a:r>
              <a:rPr sz="2000">
                <a:solidFill>
                  <a:srgbClr val="2563EB"/>
                </a:solidFill>
                <a:latin typeface="Arial"/>
              </a:rPr>
              <a:t> Software</a:t>
            </a:r>
          </a:p>
          <a:p>
            <a:pPr>
              <a:spcAft>
                <a:spcPts val="1600"/>
              </a:spcAft>
            </a:pPr>
            <a:r>
              <a:rPr sz="2000" b="1">
                <a:solidFill>
                  <a:srgbClr val="0F172A"/>
                </a:solidFill>
                <a:latin typeface="Arial"/>
              </a:rPr>
              <a:t>• Team ID -</a:t>
            </a:r>
            <a:r>
              <a:rPr sz="2000">
                <a:solidFill>
                  <a:srgbClr val="2563EB"/>
                </a:solidFill>
                <a:latin typeface="Arial"/>
              </a:rPr>
              <a:t> 32176</a:t>
            </a:r>
          </a:p>
          <a:p>
            <a:pPr>
              <a:spcAft>
                <a:spcPts val="1600"/>
              </a:spcAft>
            </a:pPr>
            <a:r>
              <a:rPr sz="2000" b="1">
                <a:solidFill>
                  <a:srgbClr val="0F172A"/>
                </a:solidFill>
                <a:latin typeface="Arial"/>
              </a:rPr>
              <a:t>• Team Name -</a:t>
            </a:r>
            <a:r>
              <a:rPr sz="2000">
                <a:solidFill>
                  <a:srgbClr val="2563EB"/>
                </a:solidFill>
                <a:latin typeface="Arial"/>
              </a:rPr>
              <a:t> LegalMetriX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LEGALMETRIX – AI-POWERED LEGAL METROLOGY COMPLIANCE SYSTEM</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1E3A8A"/>
                </a:solidFill>
                <a:latin typeface="Arial"/>
              </a:defRPr>
            </a:pPr>
            <a:r>
              <a:t>SMART INDIA</a:t>
            </a:r>
            <a:br/>
            <a:r>
              <a:t>HACKATHON 2024</a:t>
            </a:r>
          </a:p>
        </p:txBody>
      </p:sp>
      <p:sp>
        <p:nvSpPr>
          <p:cNvPr id="5" name="TextBox 4"/>
          <p:cNvSpPr txBox="1"/>
          <p:nvPr/>
        </p:nvSpPr>
        <p:spPr>
          <a:xfrm>
            <a:off x="457200" y="1005840"/>
            <a:ext cx="6583680" cy="5394960"/>
          </a:xfrm>
          <a:prstGeom prst="rect">
            <a:avLst/>
          </a:prstGeom>
          <a:noFill/>
        </p:spPr>
        <p:txBody>
          <a:bodyPr wrap="square">
            <a:spAutoFit/>
          </a:bodyPr>
          <a:lstStyle/>
          <a:p>
            <a:pPr>
              <a:spcAft>
                <a:spcPts val="300"/>
              </a:spcAft>
              <a:defRPr sz="1300" b="1">
                <a:solidFill>
                  <a:srgbClr val="1E3A8A"/>
                </a:solidFill>
                <a:latin typeface="Arial"/>
              </a:defRPr>
            </a:pPr>
            <a:r>
              <a:t>Proposed Idea / Solution :</a:t>
            </a:r>
          </a:p>
          <a:p>
            <a:pPr>
              <a:spcAft>
                <a:spcPts val="200"/>
              </a:spcAft>
              <a:defRPr sz="950">
                <a:solidFill>
                  <a:srgbClr val="1E293B"/>
                </a:solidFill>
                <a:latin typeface="Arial"/>
              </a:defRPr>
            </a:pPr>
            <a:r>
              <a:t>• Our system 'LegalMetriX' automates end-to-end Legal Metrology inspection, complaint filing, and verification for packaged commodities.</a:t>
            </a:r>
          </a:p>
          <a:p>
            <a:pPr>
              <a:spcAft>
                <a:spcPts val="200"/>
              </a:spcAft>
              <a:defRPr sz="950">
                <a:solidFill>
                  <a:srgbClr val="1E293B"/>
                </a:solidFill>
                <a:latin typeface="Arial"/>
              </a:defRPr>
            </a:pPr>
            <a:r>
              <a:t>• Users can upload photos, multi-panel surface views, or continuous 360° rotation videos for automated statutory audit.</a:t>
            </a:r>
          </a:p>
          <a:p>
            <a:pPr>
              <a:spcAft>
                <a:spcPts val="200"/>
              </a:spcAft>
              <a:defRPr sz="950">
                <a:solidFill>
                  <a:srgbClr val="1E293B"/>
                </a:solidFill>
                <a:latin typeface="Arial"/>
              </a:defRPr>
            </a:pPr>
            <a:r>
              <a:t>• Utilizes dual-pass OCR &amp; Gemini Vision to extract and evaluate all mandatory declarations under Rule 6(1) and Rule 12. Live at: legal-metrology-dist-three.vercel.app</a:t>
            </a:r>
          </a:p>
          <a:p>
            <a:pPr>
              <a:spcAft>
                <a:spcPts val="200"/>
              </a:spcAft>
              <a:defRPr sz="950">
                <a:solidFill>
                  <a:srgbClr val="1E293B"/>
                </a:solidFill>
                <a:latin typeface="Arial"/>
              </a:defRPr>
            </a:pPr>
            <a:r>
              <a:t>• The platform bridges physical ground seizures with digital court-admissible dossiers, case forwarding, and citizen grievance tracking.</a:t>
            </a:r>
          </a:p>
          <a:p>
            <a:pPr>
              <a:spcBef>
                <a:spcPts val="600"/>
              </a:spcBef>
              <a:spcAft>
                <a:spcPts val="300"/>
              </a:spcAft>
              <a:defRPr sz="1300" b="1">
                <a:solidFill>
                  <a:srgbClr val="1E3A8A"/>
                </a:solidFill>
                <a:latin typeface="Arial"/>
              </a:defRPr>
            </a:pPr>
            <a:r>
              <a:t>Innovation and Uniqueness of our Idea :</a:t>
            </a:r>
          </a:p>
          <a:p>
            <a:pPr>
              <a:spcAft>
                <a:spcPts val="200"/>
              </a:spcAft>
            </a:pPr>
            <a:r>
              <a:rPr b="1" sz="950">
                <a:solidFill>
                  <a:srgbClr val="0F172A"/>
                </a:solidFill>
              </a:rPr>
              <a:t>• 360° Rotational Continuous Video Capture :</a:t>
            </a:r>
            <a:r>
              <a:rPr sz="900">
                <a:solidFill>
                  <a:srgbClr val="1E293B"/>
                </a:solidFill>
              </a:rPr>
              <a:t> Automatically discards motion blur via Laplacian variance and synthesizes orthogonal sharp keyframes.</a:t>
            </a:r>
          </a:p>
          <a:p>
            <a:pPr>
              <a:spcAft>
                <a:spcPts val="200"/>
              </a:spcAft>
            </a:pPr>
            <a:r>
              <a:rPr b="1" sz="950">
                <a:solidFill>
                  <a:srgbClr val="0F172A"/>
                </a:solidFill>
              </a:rPr>
              <a:t>• Strict Anti-Hallucination Guardrail :</a:t>
            </a:r>
            <a:r>
              <a:rPr sz="900">
                <a:solidFill>
                  <a:srgbClr val="1E293B"/>
                </a:solidFill>
              </a:rPr>
              <a:t> Zero-guessing policy. Smudged or missing text is flagged as 'NEEDS VERIFICATION' rather than false violations.</a:t>
            </a:r>
          </a:p>
          <a:p>
            <a:pPr>
              <a:spcAft>
                <a:spcPts val="200"/>
              </a:spcAft>
            </a:pPr>
            <a:r>
              <a:rPr b="1" sz="950">
                <a:solidFill>
                  <a:srgbClr val="0F172A"/>
                </a:solidFill>
              </a:rPr>
              <a:t>• Statutory Human-in-the-Loop Digital Seal :</a:t>
            </a:r>
            <a:r>
              <a:rPr sz="900">
                <a:solidFill>
                  <a:srgbClr val="1E293B"/>
                </a:solidFill>
              </a:rPr>
              <a:t> AI outputs assistive cues; only authorized gazetted officers execute legal determinations with cryptographic hash.</a:t>
            </a:r>
          </a:p>
          <a:p>
            <a:pPr>
              <a:spcAft>
                <a:spcPts val="200"/>
              </a:spcAft>
            </a:pPr>
            <a:r>
              <a:rPr b="1" sz="950">
                <a:solidFill>
                  <a:srgbClr val="0F172A"/>
                </a:solidFill>
              </a:rPr>
              <a:t>• Sanitized Public Citizen Tracking :</a:t>
            </a:r>
            <a:r>
              <a:rPr sz="900">
                <a:solidFill>
                  <a:srgbClr val="1E293B"/>
                </a:solidFill>
              </a:rPr>
              <a:t> Transparent grievance tracking while redacting confidential officer notes and inspection memos.</a:t>
            </a:r>
          </a:p>
        </p:txBody>
      </p:sp>
      <p:sp>
        <p:nvSpPr>
          <p:cNvPr id="6" name="TextBox 5"/>
          <p:cNvSpPr txBox="1"/>
          <p:nvPr/>
        </p:nvSpPr>
        <p:spPr>
          <a:xfrm>
            <a:off x="7315200" y="914400"/>
            <a:ext cx="4389120" cy="365760"/>
          </a:xfrm>
          <a:prstGeom prst="rect">
            <a:avLst/>
          </a:prstGeom>
          <a:noFill/>
        </p:spPr>
        <p:txBody>
          <a:bodyPr wrap="none">
            <a:spAutoFit/>
          </a:bodyPr>
          <a:lstStyle/>
          <a:p>
            <a:pPr>
              <a:defRPr b="1" sz="1150">
                <a:solidFill>
                  <a:srgbClr val="1E3A8A"/>
                </a:solidFill>
              </a:defRPr>
            </a:pPr>
            <a:r>
              <a:t>Website Architecture &amp; Enforcement Flow :</a:t>
            </a:r>
          </a:p>
        </p:txBody>
      </p:sp>
      <p:sp>
        <p:nvSpPr>
          <p:cNvPr id="7" name="Rounded Rectangle 6"/>
          <p:cNvSpPr/>
          <p:nvPr/>
        </p:nvSpPr>
        <p:spPr>
          <a:xfrm>
            <a:off x="7315200" y="137160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1. Package Capture</a:t>
            </a:r>
          </a:p>
          <a:p>
            <a:pPr algn="ctr">
              <a:defRPr sz="800">
                <a:solidFill>
                  <a:srgbClr val="475569"/>
                </a:solidFill>
              </a:defRPr>
            </a:pPr>
            <a:r>
              <a:t>Single Image / 4-Panel / 360° Video Recorder</a:t>
            </a:r>
          </a:p>
        </p:txBody>
      </p:sp>
      <p:sp>
        <p:nvSpPr>
          <p:cNvPr id="8" name="Rounded Rectangle 7"/>
          <p:cNvSpPr/>
          <p:nvPr/>
        </p:nvSpPr>
        <p:spPr>
          <a:xfrm>
            <a:off x="7315200" y="214884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2. Keyframe Selector &amp; Filter</a:t>
            </a:r>
          </a:p>
          <a:p>
            <a:pPr algn="ctr">
              <a:defRPr sz="800">
                <a:solidFill>
                  <a:srgbClr val="475569"/>
                </a:solidFill>
              </a:defRPr>
            </a:pPr>
            <a:r>
              <a:t>Laplacian Blur Filter + CLAHE Contrast</a:t>
            </a:r>
          </a:p>
        </p:txBody>
      </p:sp>
      <p:sp>
        <p:nvSpPr>
          <p:cNvPr id="9" name="Rounded Rectangle 8"/>
          <p:cNvSpPr/>
          <p:nvPr/>
        </p:nvSpPr>
        <p:spPr>
          <a:xfrm>
            <a:off x="7315200" y="292608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3. Dual-Pass OCR &amp; AI Vision</a:t>
            </a:r>
          </a:p>
          <a:p>
            <a:pPr algn="ctr">
              <a:defRPr sz="800">
                <a:solidFill>
                  <a:srgbClr val="475569"/>
                </a:solidFill>
              </a:defRPr>
            </a:pPr>
            <a:r>
              <a:t>PaddleOCR Local Text ROI + Gemini Context</a:t>
            </a:r>
          </a:p>
        </p:txBody>
      </p:sp>
      <p:sp>
        <p:nvSpPr>
          <p:cNvPr id="10" name="Rounded Rectangle 9"/>
          <p:cNvSpPr/>
          <p:nvPr/>
        </p:nvSpPr>
        <p:spPr>
          <a:xfrm>
            <a:off x="7315200" y="370332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4. Statutory Rule 6 &amp; 12 Engine</a:t>
            </a:r>
          </a:p>
          <a:p>
            <a:pPr algn="ctr">
              <a:defRPr sz="800">
                <a:solidFill>
                  <a:srgbClr val="475569"/>
                </a:solidFill>
              </a:defRPr>
            </a:pPr>
            <a:r>
              <a:t>MRP, Net Qty, Mfg/Exp Date, Address, Care</a:t>
            </a:r>
          </a:p>
        </p:txBody>
      </p:sp>
      <p:sp>
        <p:nvSpPr>
          <p:cNvPr id="11" name="Rounded Rectangle 10"/>
          <p:cNvSpPr/>
          <p:nvPr/>
        </p:nvSpPr>
        <p:spPr>
          <a:xfrm>
            <a:off x="7315200" y="448056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5. 8-Stage Complaint / Enquiry</a:t>
            </a:r>
          </a:p>
          <a:p>
            <a:pPr algn="ctr">
              <a:defRPr sz="800">
                <a:solidFill>
                  <a:srgbClr val="475569"/>
                </a:solidFill>
              </a:defRPr>
            </a:pPr>
            <a:r>
              <a:t>Zonal Escalation, Prosecution &amp; Lab Forwarding</a:t>
            </a:r>
          </a:p>
        </p:txBody>
      </p:sp>
      <p:sp>
        <p:nvSpPr>
          <p:cNvPr id="12" name="Rounded Rectangle 11"/>
          <p:cNvSpPr/>
          <p:nvPr/>
        </p:nvSpPr>
        <p:spPr>
          <a:xfrm>
            <a:off x="7315200" y="5257800"/>
            <a:ext cx="4389120" cy="6400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6. Official Statutory Sign-Off</a:t>
            </a:r>
          </a:p>
          <a:p>
            <a:pPr algn="ctr">
              <a:defRPr sz="800">
                <a:solidFill>
                  <a:srgbClr val="475569"/>
                </a:solidFill>
              </a:defRPr>
            </a:pPr>
            <a:r>
              <a:t>Digital Signature Seal (SEAL-LM-DIR-XXXX)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TECHNICAL APPROACH &amp; PIPELINE</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1E3A8A"/>
                </a:solidFill>
                <a:latin typeface="Arial"/>
              </a:defRPr>
            </a:pPr>
            <a:r>
              <a:t>SMART INDIA</a:t>
            </a:r>
            <a:br/>
            <a:r>
              <a:t>HACKATHON 2024</a:t>
            </a:r>
          </a:p>
        </p:txBody>
      </p:sp>
      <p:sp>
        <p:nvSpPr>
          <p:cNvPr id="5" name="TextBox 4"/>
          <p:cNvSpPr txBox="1"/>
          <p:nvPr/>
        </p:nvSpPr>
        <p:spPr>
          <a:xfrm>
            <a:off x="457200" y="914400"/>
            <a:ext cx="6217920" cy="4206240"/>
          </a:xfrm>
          <a:prstGeom prst="rect">
            <a:avLst/>
          </a:prstGeom>
          <a:noFill/>
        </p:spPr>
        <p:txBody>
          <a:bodyPr wrap="square">
            <a:spAutoFit/>
          </a:bodyPr>
          <a:lstStyle/>
          <a:p>
            <a:pPr>
              <a:spcAft>
                <a:spcPts val="300"/>
              </a:spcAft>
            </a:pPr>
            <a:r>
              <a:rPr b="1" sz="1000">
                <a:solidFill>
                  <a:srgbClr val="0F172A"/>
                </a:solidFill>
              </a:rPr>
              <a:t>1. Data Ingestion &amp; Pre-flight Validation:
</a:t>
            </a:r>
            <a:r>
              <a:rPr sz="850">
                <a:solidFill>
                  <a:srgbClr val="1E293B"/>
                </a:solidFill>
              </a:rPr>
              <a:t>• Multi-modal input with client-side quality gate checking resolution, contrast, and brightness.</a:t>
            </a:r>
          </a:p>
          <a:p>
            <a:pPr>
              <a:spcAft>
                <a:spcPts val="300"/>
              </a:spcAft>
            </a:pPr>
            <a:r>
              <a:rPr b="1" sz="1000">
                <a:solidFill>
                  <a:srgbClr val="0F172A"/>
                </a:solidFill>
              </a:rPr>
              <a:t>2. 360° Video Keyframe Extraction:
</a:t>
            </a:r>
            <a:r>
              <a:rPr sz="850">
                <a:solidFill>
                  <a:srgbClr val="1E293B"/>
                </a:solidFill>
              </a:rPr>
              <a:t>• Continuous video sampling with Laplacian variance filtering: Sharpness = Var(Laplacian(I)).</a:t>
            </a:r>
          </a:p>
          <a:p>
            <a:pPr>
              <a:spcAft>
                <a:spcPts val="300"/>
              </a:spcAft>
            </a:pPr>
            <a:r>
              <a:rPr b="1" sz="1000">
                <a:solidFill>
                  <a:srgbClr val="0F172A"/>
                </a:solidFill>
              </a:rPr>
              <a:t>3. Dual-Pass OCR &amp; Semantic Engine:
</a:t>
            </a:r>
            <a:r>
              <a:rPr sz="850">
                <a:solidFill>
                  <a:srgbClr val="1E293B"/>
                </a:solidFill>
              </a:rPr>
              <a:t>• PaddleOCR coordinates + Gemini Vision context to extract Rule 6(1)(a)-(n) declarations.</a:t>
            </a:r>
          </a:p>
          <a:p>
            <a:pPr>
              <a:spcAft>
                <a:spcPts val="300"/>
              </a:spcAft>
            </a:pPr>
            <a:r>
              <a:rPr b="1" sz="1000">
                <a:solidFill>
                  <a:srgbClr val="0F172A"/>
                </a:solidFill>
              </a:rPr>
              <a:t>4. Statutory Rule &amp; Tolerance Engine:
</a:t>
            </a:r>
            <a:r>
              <a:rPr sz="850">
                <a:solidFill>
                  <a:srgbClr val="1E293B"/>
                </a:solidFill>
              </a:rPr>
              <a:t>• Evaluates Maximum Retail Price, metric unit tolerances (Rule 12), and dual MRP sticker overlays.</a:t>
            </a:r>
          </a:p>
          <a:p>
            <a:pPr>
              <a:spcAft>
                <a:spcPts val="300"/>
              </a:spcAft>
            </a:pPr>
            <a:r>
              <a:rPr b="1" sz="1000">
                <a:solidFill>
                  <a:srgbClr val="0F172A"/>
                </a:solidFill>
              </a:rPr>
              <a:t>5. Immutable Audit &amp; 8-Stage Routing:
</a:t>
            </a:r>
            <a:r>
              <a:rPr sz="850">
                <a:solidFill>
                  <a:srgbClr val="1E293B"/>
                </a:solidFill>
              </a:rPr>
              <a:t>• Append-only event log with SHA-256 evidence hashing and zonal case forwarding.</a:t>
            </a:r>
          </a:p>
          <a:p>
            <a:pPr>
              <a:spcAft>
                <a:spcPts val="300"/>
              </a:spcAft>
            </a:pPr>
            <a:r>
              <a:rPr b="1" sz="1000">
                <a:solidFill>
                  <a:srgbClr val="0F172A"/>
                </a:solidFill>
              </a:rPr>
              <a:t>6. Cross-Platform PWA Deployment:
</a:t>
            </a:r>
            <a:r>
              <a:rPr sz="850">
                <a:solidFill>
                  <a:srgbClr val="1E293B"/>
                </a:solidFill>
              </a:rPr>
              <a:t>• React 18 + Vite + Tailwind v4 with IndexedDB offline queue for zero-downtime field auditing.</a:t>
            </a:r>
          </a:p>
        </p:txBody>
      </p:sp>
      <p:sp>
        <p:nvSpPr>
          <p:cNvPr id="6" name="TextBox 5"/>
          <p:cNvSpPr txBox="1"/>
          <p:nvPr/>
        </p:nvSpPr>
        <p:spPr>
          <a:xfrm>
            <a:off x="457200" y="5303520"/>
            <a:ext cx="6217920" cy="274320"/>
          </a:xfrm>
          <a:prstGeom prst="rect">
            <a:avLst/>
          </a:prstGeom>
          <a:noFill/>
        </p:spPr>
        <p:txBody>
          <a:bodyPr wrap="none">
            <a:spAutoFit/>
          </a:bodyPr>
          <a:lstStyle/>
          <a:p>
            <a:pPr>
              <a:defRPr b="1" sz="1050">
                <a:solidFill>
                  <a:srgbClr val="1E3A8A"/>
                </a:solidFill>
              </a:defRPr>
            </a:pPr>
            <a:r>
              <a:t>TECH STACK :</a:t>
            </a:r>
          </a:p>
        </p:txBody>
      </p:sp>
      <p:sp>
        <p:nvSpPr>
          <p:cNvPr id="7" name="Rounded Rectangle 6"/>
          <p:cNvSpPr/>
          <p:nvPr/>
        </p:nvSpPr>
        <p:spPr>
          <a:xfrm>
            <a:off x="45720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React 18</a:t>
            </a:r>
          </a:p>
        </p:txBody>
      </p:sp>
      <p:sp>
        <p:nvSpPr>
          <p:cNvPr id="8" name="Rounded Rectangle 7"/>
          <p:cNvSpPr/>
          <p:nvPr/>
        </p:nvSpPr>
        <p:spPr>
          <a:xfrm>
            <a:off x="146304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Vite</a:t>
            </a:r>
          </a:p>
        </p:txBody>
      </p:sp>
      <p:sp>
        <p:nvSpPr>
          <p:cNvPr id="9" name="Rounded Rectangle 8"/>
          <p:cNvSpPr/>
          <p:nvPr/>
        </p:nvSpPr>
        <p:spPr>
          <a:xfrm>
            <a:off x="210312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TypeScript</a:t>
            </a:r>
          </a:p>
        </p:txBody>
      </p:sp>
      <p:sp>
        <p:nvSpPr>
          <p:cNvPr id="10" name="Rounded Rectangle 9"/>
          <p:cNvSpPr/>
          <p:nvPr/>
        </p:nvSpPr>
        <p:spPr>
          <a:xfrm>
            <a:off x="320040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Tailwind v4</a:t>
            </a:r>
          </a:p>
        </p:txBody>
      </p:sp>
      <p:sp>
        <p:nvSpPr>
          <p:cNvPr id="11" name="Rounded Rectangle 10"/>
          <p:cNvSpPr/>
          <p:nvPr/>
        </p:nvSpPr>
        <p:spPr>
          <a:xfrm>
            <a:off x="429768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Python</a:t>
            </a:r>
          </a:p>
        </p:txBody>
      </p:sp>
      <p:sp>
        <p:nvSpPr>
          <p:cNvPr id="12" name="Rounded Rectangle 11"/>
          <p:cNvSpPr/>
          <p:nvPr/>
        </p:nvSpPr>
        <p:spPr>
          <a:xfrm>
            <a:off x="5029200" y="5623560"/>
            <a:ext cx="91440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PaddleOCR</a:t>
            </a:r>
          </a:p>
        </p:txBody>
      </p:sp>
      <p:sp>
        <p:nvSpPr>
          <p:cNvPr id="13" name="Rounded Rectangle 12"/>
          <p:cNvSpPr/>
          <p:nvPr/>
        </p:nvSpPr>
        <p:spPr>
          <a:xfrm>
            <a:off x="457200" y="5989320"/>
            <a:ext cx="100584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Gemini AI</a:t>
            </a:r>
          </a:p>
        </p:txBody>
      </p:sp>
      <p:sp>
        <p:nvSpPr>
          <p:cNvPr id="14" name="Rounded Rectangle 13"/>
          <p:cNvSpPr/>
          <p:nvPr/>
        </p:nvSpPr>
        <p:spPr>
          <a:xfrm>
            <a:off x="1463040" y="5989320"/>
            <a:ext cx="100584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FastAPI</a:t>
            </a:r>
          </a:p>
        </p:txBody>
      </p:sp>
      <p:sp>
        <p:nvSpPr>
          <p:cNvPr id="15" name="Rounded Rectangle 14"/>
          <p:cNvSpPr/>
          <p:nvPr/>
        </p:nvSpPr>
        <p:spPr>
          <a:xfrm>
            <a:off x="2377440" y="5989320"/>
            <a:ext cx="100584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IndexedDB</a:t>
            </a:r>
          </a:p>
        </p:txBody>
      </p:sp>
      <p:sp>
        <p:nvSpPr>
          <p:cNvPr id="16" name="Rounded Rectangle 15"/>
          <p:cNvSpPr/>
          <p:nvPr/>
        </p:nvSpPr>
        <p:spPr>
          <a:xfrm>
            <a:off x="3474720" y="5989320"/>
            <a:ext cx="100584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PWA Workbox</a:t>
            </a:r>
          </a:p>
        </p:txBody>
      </p:sp>
      <p:sp>
        <p:nvSpPr>
          <p:cNvPr id="17" name="Rounded Rectangle 16"/>
          <p:cNvSpPr/>
          <p:nvPr/>
        </p:nvSpPr>
        <p:spPr>
          <a:xfrm>
            <a:off x="4754880" y="5989320"/>
            <a:ext cx="1005840" cy="29260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00" b="1">
                <a:solidFill>
                  <a:srgbClr val="1E3A8A"/>
                </a:solidFill>
              </a:defRPr>
            </a:pPr>
            <a:r>
              <a:t>Vercel CDN</a:t>
            </a:r>
          </a:p>
        </p:txBody>
      </p:sp>
      <p:sp>
        <p:nvSpPr>
          <p:cNvPr id="18" name="TextBox 17"/>
          <p:cNvSpPr txBox="1"/>
          <p:nvPr/>
        </p:nvSpPr>
        <p:spPr>
          <a:xfrm>
            <a:off x="7132320" y="914400"/>
            <a:ext cx="4572000" cy="365760"/>
          </a:xfrm>
          <a:prstGeom prst="rect">
            <a:avLst/>
          </a:prstGeom>
          <a:noFill/>
        </p:spPr>
        <p:txBody>
          <a:bodyPr wrap="none">
            <a:spAutoFit/>
          </a:bodyPr>
          <a:lstStyle/>
          <a:p>
            <a:pPr>
              <a:defRPr b="1" sz="1150">
                <a:solidFill>
                  <a:srgbClr val="1E3A8A"/>
                </a:solidFill>
              </a:defRPr>
            </a:pPr>
            <a:r>
              <a:t>Technical Approach Flowchart :</a:t>
            </a:r>
          </a:p>
        </p:txBody>
      </p:sp>
      <p:sp>
        <p:nvSpPr>
          <p:cNvPr id="19" name="Rectangle 18"/>
          <p:cNvSpPr/>
          <p:nvPr/>
        </p:nvSpPr>
        <p:spPr>
          <a:xfrm>
            <a:off x="7132320" y="137160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Video &amp; Photo Ingestion</a:t>
            </a:r>
          </a:p>
          <a:p>
            <a:pPr algn="ctr">
              <a:defRPr sz="800">
                <a:solidFill>
                  <a:srgbClr val="1E293B"/>
                </a:solidFill>
              </a:defRPr>
            </a:pPr>
            <a:r>
              <a:t>Camera Sensor Binding + Geolocation</a:t>
            </a:r>
          </a:p>
        </p:txBody>
      </p:sp>
      <p:sp>
        <p:nvSpPr>
          <p:cNvPr id="20" name="Rectangle 19"/>
          <p:cNvSpPr/>
          <p:nvPr/>
        </p:nvSpPr>
        <p:spPr>
          <a:xfrm>
            <a:off x="7132320" y="214884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Laplacian Variance Filter</a:t>
            </a:r>
          </a:p>
          <a:p>
            <a:pPr algn="ctr">
              <a:defRPr sz="800">
                <a:solidFill>
                  <a:srgbClr val="1E293B"/>
                </a:solidFill>
              </a:defRPr>
            </a:pPr>
            <a:r>
              <a:t>Sharpness &gt; Threshold; Frame Discarding</a:t>
            </a:r>
          </a:p>
        </p:txBody>
      </p:sp>
      <p:sp>
        <p:nvSpPr>
          <p:cNvPr id="21" name="Rectangle 20"/>
          <p:cNvSpPr/>
          <p:nvPr/>
        </p:nvSpPr>
        <p:spPr>
          <a:xfrm>
            <a:off x="7132320" y="292608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PaddleOCR Text Extraction</a:t>
            </a:r>
          </a:p>
          <a:p>
            <a:pPr algn="ctr">
              <a:defRPr sz="800">
                <a:solidFill>
                  <a:srgbClr val="1E293B"/>
                </a:solidFill>
              </a:defRPr>
            </a:pPr>
            <a:r>
              <a:t>Character Detection &amp; Coordinates</a:t>
            </a:r>
          </a:p>
        </p:txBody>
      </p:sp>
      <p:sp>
        <p:nvSpPr>
          <p:cNvPr id="22" name="Rectangle 21"/>
          <p:cNvSpPr/>
          <p:nvPr/>
        </p:nvSpPr>
        <p:spPr>
          <a:xfrm>
            <a:off x="7132320" y="370332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Gemini Semantic Verification</a:t>
            </a:r>
          </a:p>
          <a:p>
            <a:pPr algn="ctr">
              <a:defRPr sz="800">
                <a:solidFill>
                  <a:srgbClr val="1E293B"/>
                </a:solidFill>
              </a:defRPr>
            </a:pPr>
            <a:r>
              <a:t>Legal Context &amp; Tax Inclusion</a:t>
            </a:r>
          </a:p>
        </p:txBody>
      </p:sp>
      <p:sp>
        <p:nvSpPr>
          <p:cNvPr id="23" name="Rectangle 22"/>
          <p:cNvSpPr/>
          <p:nvPr/>
        </p:nvSpPr>
        <p:spPr>
          <a:xfrm>
            <a:off x="7132320" y="448056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Statutory Rule 6 Checklist</a:t>
            </a:r>
          </a:p>
          <a:p>
            <a:pPr algn="ctr">
              <a:defRPr sz="800">
                <a:solidFill>
                  <a:srgbClr val="1E293B"/>
                </a:solidFill>
              </a:defRPr>
            </a:pPr>
            <a:r>
              <a:t>Rule Code Mapping &amp; Violation Scoring</a:t>
            </a:r>
          </a:p>
        </p:txBody>
      </p:sp>
      <p:sp>
        <p:nvSpPr>
          <p:cNvPr id="24" name="Rectangle 23"/>
          <p:cNvSpPr/>
          <p:nvPr/>
        </p:nvSpPr>
        <p:spPr>
          <a:xfrm>
            <a:off x="7132320" y="5257800"/>
            <a:ext cx="4572000" cy="640080"/>
          </a:xfrm>
          <a:prstGeom prst="rect">
            <a:avLst/>
          </a:prstGeom>
          <a:solidFill>
            <a:srgbClr val="FEF08A"/>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950">
                <a:solidFill>
                  <a:srgbClr val="0F172A"/>
                </a:solidFill>
              </a:defRPr>
            </a:pPr>
            <a:r>
              <a:t>PDF Dossier &amp; Audit Hash</a:t>
            </a:r>
          </a:p>
          <a:p>
            <a:pPr algn="ctr">
              <a:defRPr sz="800">
                <a:solidFill>
                  <a:srgbClr val="1E293B"/>
                </a:solidFill>
              </a:defRPr>
            </a:pPr>
            <a:r>
              <a:t>Digital Seal Generation (SEAL-LM-DIR-XXXX)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FEASIBILITY AND VIABILITY</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1E3A8A"/>
                </a:solidFill>
                <a:latin typeface="Arial"/>
              </a:defRPr>
            </a:pPr>
            <a:r>
              <a:t>SMART INDIA</a:t>
            </a:r>
            <a:br/>
            <a:r>
              <a:t>HACKATHON 2024</a:t>
            </a:r>
          </a:p>
        </p:txBody>
      </p:sp>
      <p:sp>
        <p:nvSpPr>
          <p:cNvPr id="5" name="TextBox 4"/>
          <p:cNvSpPr txBox="1"/>
          <p:nvPr/>
        </p:nvSpPr>
        <p:spPr>
          <a:xfrm>
            <a:off x="457200" y="914400"/>
            <a:ext cx="6217920" cy="5486400"/>
          </a:xfrm>
          <a:prstGeom prst="rect">
            <a:avLst/>
          </a:prstGeom>
          <a:noFill/>
        </p:spPr>
        <p:txBody>
          <a:bodyPr wrap="square">
            <a:spAutoFit/>
          </a:bodyPr>
          <a:lstStyle/>
          <a:p>
            <a:pPr>
              <a:spcAft>
                <a:spcPts val="200"/>
              </a:spcAft>
              <a:defRPr b="1" sz="1200">
                <a:solidFill>
                  <a:srgbClr val="1E3A8A"/>
                </a:solidFill>
              </a:defRPr>
            </a:pPr>
            <a:r>
              <a:t>Feasibility :</a:t>
            </a:r>
          </a:p>
          <a:p>
            <a:pPr>
              <a:spcAft>
                <a:spcPts val="200"/>
              </a:spcAft>
            </a:pPr>
            <a:r>
              <a:rPr b="1" sz="900">
                <a:solidFill>
                  <a:srgbClr val="0F172A"/>
                </a:solidFill>
              </a:rPr>
              <a:t>Technical Feasibility :</a:t>
            </a:r>
            <a:r>
              <a:rPr sz="850">
                <a:solidFill>
                  <a:srgbClr val="1E293B"/>
                </a:solidFill>
              </a:rPr>
              <a:t> Leverages proven open-source computer vision (PaddleOCR) and Gemini 1.5 API.</a:t>
            </a:r>
          </a:p>
          <a:p>
            <a:pPr>
              <a:spcAft>
                <a:spcPts val="200"/>
              </a:spcAft>
            </a:pPr>
            <a:r>
              <a:rPr b="1" sz="900">
                <a:solidFill>
                  <a:srgbClr val="0F172A"/>
                </a:solidFill>
              </a:rPr>
              <a:t>Data Availability :</a:t>
            </a:r>
            <a:r>
              <a:rPr sz="850">
                <a:solidFill>
                  <a:srgbClr val="1E293B"/>
                </a:solidFill>
              </a:rPr>
              <a:t> Uses packaging standards mandated under Rule 6(1) &amp; Schedule 2 of PCR 2011.</a:t>
            </a:r>
          </a:p>
          <a:p>
            <a:pPr>
              <a:spcAft>
                <a:spcPts val="200"/>
              </a:spcAft>
            </a:pPr>
            <a:r>
              <a:rPr b="1" sz="900">
                <a:solidFill>
                  <a:srgbClr val="0F172A"/>
                </a:solidFill>
              </a:rPr>
              <a:t>Real-time Performance :</a:t>
            </a:r>
            <a:r>
              <a:rPr sz="850">
                <a:solidFill>
                  <a:srgbClr val="1E293B"/>
                </a:solidFill>
              </a:rPr>
              <a:t> Client-side compression (&lt;250ms) + cloud inference (&lt;2.4s) delivers real-time speed.</a:t>
            </a:r>
          </a:p>
          <a:p>
            <a:pPr>
              <a:spcBef>
                <a:spcPts val="400"/>
              </a:spcBef>
              <a:spcAft>
                <a:spcPts val="200"/>
              </a:spcAft>
              <a:defRPr b="1" sz="1200">
                <a:solidFill>
                  <a:srgbClr val="1E3A8A"/>
                </a:solidFill>
              </a:defRPr>
            </a:pPr>
            <a:r>
              <a:t>Viability :</a:t>
            </a:r>
          </a:p>
          <a:p>
            <a:pPr>
              <a:spcAft>
                <a:spcPts val="200"/>
              </a:spcAft>
              <a:defRPr sz="850">
                <a:solidFill>
                  <a:srgbClr val="1E293B"/>
                </a:solidFill>
              </a:defRPr>
            </a:pPr>
            <a:r>
              <a:t>• Scalable across all 28 States &amp; 8 UTs Weights &amp; Measures Departments.</a:t>
            </a:r>
          </a:p>
          <a:p>
            <a:pPr>
              <a:spcAft>
                <a:spcPts val="200"/>
              </a:spcAft>
              <a:defRPr sz="850">
                <a:solidFill>
                  <a:srgbClr val="1E293B"/>
                </a:solidFill>
              </a:defRPr>
            </a:pPr>
            <a:r>
              <a:t>• Zero hardware dependency — runs seamlessly on standard smartphones carried by inspectors.</a:t>
            </a:r>
          </a:p>
          <a:p>
            <a:pPr>
              <a:spcAft>
                <a:spcPts val="200"/>
              </a:spcAft>
              <a:defRPr sz="850">
                <a:solidFill>
                  <a:srgbClr val="1E293B"/>
                </a:solidFill>
              </a:defRPr>
            </a:pPr>
            <a:r>
              <a:t>• Reduces manual docket recording time by 95% (from 10 mins to 2.4s per commodity sample).</a:t>
            </a:r>
          </a:p>
          <a:p>
            <a:pPr>
              <a:spcBef>
                <a:spcPts val="400"/>
              </a:spcBef>
              <a:spcAft>
                <a:spcPts val="200"/>
              </a:spcAft>
              <a:defRPr b="1" sz="1200">
                <a:solidFill>
                  <a:srgbClr val="1E3A8A"/>
                </a:solidFill>
              </a:defRPr>
            </a:pPr>
            <a:r>
              <a:t>Potential Risks &amp; Mitigation :</a:t>
            </a:r>
          </a:p>
          <a:p>
            <a:pPr>
              <a:spcAft>
                <a:spcPts val="200"/>
              </a:spcAft>
            </a:pPr>
            <a:r>
              <a:rPr b="1" sz="850">
                <a:solidFill>
                  <a:srgbClr val="991B1B"/>
                </a:solidFill>
              </a:rPr>
              <a:t>Risk 1 : </a:t>
            </a:r>
            <a:r>
              <a:rPr sz="800">
                <a:solidFill>
                  <a:srgbClr val="1E293B"/>
                </a:solidFill>
              </a:rPr>
              <a:t> Motion blur &amp; glare on glossy wrappers causes missing text.
</a:t>
            </a:r>
            <a:r>
              <a:rPr b="1" sz="850">
                <a:solidFill>
                  <a:srgbClr val="166534"/>
                </a:solidFill>
              </a:rPr>
              <a:t>Solution : </a:t>
            </a:r>
            <a:r>
              <a:rPr sz="800">
                <a:solidFill>
                  <a:srgbClr val="1E293B"/>
                </a:solidFill>
              </a:rPr>
              <a:t> Laplacian variance filter discards blurry frames; CLAHE balances reflection.</a:t>
            </a:r>
          </a:p>
          <a:p>
            <a:pPr>
              <a:spcAft>
                <a:spcPts val="200"/>
              </a:spcAft>
            </a:pPr>
            <a:r>
              <a:rPr b="1" sz="850">
                <a:solidFill>
                  <a:srgbClr val="991B1B"/>
                </a:solidFill>
              </a:rPr>
              <a:t>Risk 2 : </a:t>
            </a:r>
            <a:r>
              <a:rPr sz="800">
                <a:solidFill>
                  <a:srgbClr val="1E293B"/>
                </a:solidFill>
              </a:rPr>
              <a:t> AI hallucination leading to false legal notices.
</a:t>
            </a:r>
            <a:r>
              <a:rPr b="1" sz="850">
                <a:solidFill>
                  <a:srgbClr val="166534"/>
                </a:solidFill>
              </a:rPr>
              <a:t>Solution : </a:t>
            </a:r>
            <a:r>
              <a:rPr sz="800">
                <a:solidFill>
                  <a:srgbClr val="1E293B"/>
                </a:solidFill>
              </a:rPr>
              <a:t> AI outputs assistive cues only; statutory actions require gazetted officer digital seal.</a:t>
            </a:r>
          </a:p>
        </p:txBody>
      </p:sp>
      <p:sp>
        <p:nvSpPr>
          <p:cNvPr id="6" name="TextBox 5"/>
          <p:cNvSpPr txBox="1"/>
          <p:nvPr/>
        </p:nvSpPr>
        <p:spPr>
          <a:xfrm>
            <a:off x="7132320" y="914400"/>
            <a:ext cx="4572000" cy="365760"/>
          </a:xfrm>
          <a:prstGeom prst="rect">
            <a:avLst/>
          </a:prstGeom>
          <a:noFill/>
        </p:spPr>
        <p:txBody>
          <a:bodyPr wrap="none">
            <a:spAutoFit/>
          </a:bodyPr>
          <a:lstStyle/>
          <a:p>
            <a:pPr>
              <a:defRPr b="1" sz="1150">
                <a:solidFill>
                  <a:srgbClr val="1E3A8A"/>
                </a:solidFill>
              </a:defRPr>
            </a:pPr>
            <a:r>
              <a:t>Use Case Architecture Diagram :</a:t>
            </a:r>
          </a:p>
        </p:txBody>
      </p:sp>
      <p:sp>
        <p:nvSpPr>
          <p:cNvPr id="7" name="Rounded Rectangle 6"/>
          <p:cNvSpPr/>
          <p:nvPr/>
        </p:nvSpPr>
        <p:spPr>
          <a:xfrm>
            <a:off x="7132320" y="1371600"/>
            <a:ext cx="4572000" cy="1097280"/>
          </a:xfrm>
          <a:prstGeom prst="roundRect">
            <a:avLst/>
          </a:prstGeom>
          <a:solidFill>
            <a:srgbClr val="DBEAFE"/>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 Actor: Field Inspector</a:t>
            </a:r>
          </a:p>
          <a:p>
            <a:pPr>
              <a:spcBef>
                <a:spcPts val="200"/>
              </a:spcBef>
              <a:defRPr sz="800">
                <a:solidFill>
                  <a:srgbClr val="1E293B"/>
                </a:solidFill>
              </a:defRPr>
            </a:pPr>
            <a:r>
              <a:t>Capture 360°/Multi-Surface Scans</a:t>
            </a:r>
            <a:br/>
            <a:r>
              <a:t>Log Market Seizure Location</a:t>
            </a:r>
            <a:br/>
            <a:r>
              <a:t>Initiate Complaint Docket</a:t>
            </a:r>
          </a:p>
        </p:txBody>
      </p:sp>
      <p:sp>
        <p:nvSpPr>
          <p:cNvPr id="8" name="Rounded Rectangle 7"/>
          <p:cNvSpPr/>
          <p:nvPr/>
        </p:nvSpPr>
        <p:spPr>
          <a:xfrm>
            <a:off x="7132320" y="2651760"/>
            <a:ext cx="4572000" cy="1097280"/>
          </a:xfrm>
          <a:prstGeom prst="roundRect">
            <a:avLst/>
          </a:prstGeom>
          <a:solidFill>
            <a:srgbClr val="FEF08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 Actor: LegalMetriX AI Engine</a:t>
            </a:r>
          </a:p>
          <a:p>
            <a:pPr>
              <a:spcBef>
                <a:spcPts val="200"/>
              </a:spcBef>
              <a:defRPr sz="800">
                <a:solidFill>
                  <a:srgbClr val="1E293B"/>
                </a:solidFill>
              </a:defRPr>
            </a:pPr>
            <a:r>
              <a:t>Laplacian Keyframe Fusion</a:t>
            </a:r>
            <a:br/>
            <a:r>
              <a:t>PaddleOCR + Gemini Dual-Pass</a:t>
            </a:r>
            <a:br/>
            <a:r>
              <a:t>Rule 6 &amp; 12 Evaluation</a:t>
            </a:r>
          </a:p>
        </p:txBody>
      </p:sp>
      <p:sp>
        <p:nvSpPr>
          <p:cNvPr id="9" name="Rounded Rectangle 8"/>
          <p:cNvSpPr/>
          <p:nvPr/>
        </p:nvSpPr>
        <p:spPr>
          <a:xfrm>
            <a:off x="7132320" y="3931920"/>
            <a:ext cx="4572000" cy="1097280"/>
          </a:xfrm>
          <a:prstGeom prst="roundRect">
            <a:avLst/>
          </a:prstGeom>
          <a:solidFill>
            <a:srgbClr val="DCFCE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 Actor: Senior Official (DCLM)</a:t>
            </a:r>
          </a:p>
          <a:p>
            <a:pPr>
              <a:spcBef>
                <a:spcPts val="200"/>
              </a:spcBef>
              <a:defRPr sz="800">
                <a:solidFill>
                  <a:srgbClr val="1E293B"/>
                </a:solidFill>
              </a:defRPr>
            </a:pPr>
            <a:r>
              <a:t>Inter-Departmental Case Forwarding</a:t>
            </a:r>
            <a:br/>
            <a:r>
              <a:t>Statutory Verification &amp; Notice</a:t>
            </a:r>
            <a:br/>
            <a:r>
              <a:t>Digital Signature Seal Hash</a:t>
            </a:r>
          </a:p>
        </p:txBody>
      </p:sp>
      <p:sp>
        <p:nvSpPr>
          <p:cNvPr id="10" name="Rounded Rectangle 9"/>
          <p:cNvSpPr/>
          <p:nvPr/>
        </p:nvSpPr>
        <p:spPr>
          <a:xfrm>
            <a:off x="7132320" y="5212080"/>
            <a:ext cx="4572000" cy="1097280"/>
          </a:xfrm>
          <a:prstGeom prst="roundRect">
            <a:avLst/>
          </a:prstGeom>
          <a:solidFill>
            <a:srgbClr val="F3E8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 Actor: Public Citizen / Consumer</a:t>
            </a:r>
          </a:p>
          <a:p>
            <a:pPr>
              <a:spcBef>
                <a:spcPts val="200"/>
              </a:spcBef>
              <a:defRPr sz="800">
                <a:solidFill>
                  <a:srgbClr val="1E293B"/>
                </a:solidFill>
              </a:defRPr>
            </a:pPr>
            <a:r>
              <a:t>Grievance Filing &amp; Search</a:t>
            </a:r>
            <a:br/>
            <a:r>
              <a:t>Sanitized Milestone Tracking</a:t>
            </a:r>
            <a:br/>
            <a:r>
              <a:t>Redacted Investigation Timeline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IMPACT AND BENEFITS</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1E3A8A"/>
                </a:solidFill>
                <a:latin typeface="Arial"/>
              </a:defRPr>
            </a:pPr>
            <a:r>
              <a:t>SMART INDIA</a:t>
            </a:r>
            <a:br/>
            <a:r>
              <a:t>HACKATHON 2024</a:t>
            </a:r>
          </a:p>
        </p:txBody>
      </p:sp>
      <p:sp>
        <p:nvSpPr>
          <p:cNvPr id="5" name="TextBox 4"/>
          <p:cNvSpPr txBox="1"/>
          <p:nvPr/>
        </p:nvSpPr>
        <p:spPr>
          <a:xfrm>
            <a:off x="457200" y="914400"/>
            <a:ext cx="6217920" cy="2926080"/>
          </a:xfrm>
          <a:prstGeom prst="rect">
            <a:avLst/>
          </a:prstGeom>
          <a:noFill/>
        </p:spPr>
        <p:txBody>
          <a:bodyPr wrap="square">
            <a:spAutoFit/>
          </a:bodyPr>
          <a:lstStyle/>
          <a:p>
            <a:pPr>
              <a:spcAft>
                <a:spcPts val="200"/>
              </a:spcAft>
              <a:defRPr b="1" sz="1200">
                <a:solidFill>
                  <a:srgbClr val="1E3A8A"/>
                </a:solidFill>
              </a:defRPr>
            </a:pPr>
            <a:r>
              <a:t>Impacts :</a:t>
            </a:r>
          </a:p>
          <a:p>
            <a:pPr>
              <a:spcAft>
                <a:spcPts val="100"/>
              </a:spcAft>
              <a:defRPr sz="850">
                <a:solidFill>
                  <a:srgbClr val="1E293B"/>
                </a:solidFill>
              </a:defRPr>
            </a:pPr>
            <a:r>
              <a:t>• 100% Elimination of Paper Inspection Dockets across district enforcement.</a:t>
            </a:r>
          </a:p>
          <a:p>
            <a:pPr>
              <a:spcAft>
                <a:spcPts val="100"/>
              </a:spcAft>
              <a:defRPr sz="850">
                <a:solidFill>
                  <a:srgbClr val="1E293B"/>
                </a:solidFill>
              </a:defRPr>
            </a:pPr>
            <a:r>
              <a:t>• Drastic reduction in retail Dual MRP frauds and deceptive packaging.</a:t>
            </a:r>
          </a:p>
          <a:p>
            <a:pPr>
              <a:spcAft>
                <a:spcPts val="100"/>
              </a:spcAft>
              <a:defRPr sz="850">
                <a:solidFill>
                  <a:srgbClr val="1E293B"/>
                </a:solidFill>
              </a:defRPr>
            </a:pPr>
            <a:r>
              <a:t>• Protection of consumer rights under Consumer Protection Act &amp; Legal Metrology Act.</a:t>
            </a:r>
          </a:p>
          <a:p>
            <a:pPr>
              <a:spcAft>
                <a:spcPts val="100"/>
              </a:spcAft>
              <a:defRPr sz="850">
                <a:solidFill>
                  <a:srgbClr val="1E293B"/>
                </a:solidFill>
              </a:defRPr>
            </a:pPr>
            <a:r>
              <a:t>• Standardized enforcement across state borders with unified cloud repository.</a:t>
            </a:r>
          </a:p>
          <a:p>
            <a:pPr>
              <a:spcBef>
                <a:spcPts val="300"/>
              </a:spcBef>
              <a:spcAft>
                <a:spcPts val="200"/>
              </a:spcAft>
              <a:defRPr b="1" sz="1200">
                <a:solidFill>
                  <a:srgbClr val="1E3A8A"/>
                </a:solidFill>
              </a:defRPr>
            </a:pPr>
            <a:r>
              <a:t>Benefits :</a:t>
            </a:r>
          </a:p>
          <a:p>
            <a:pPr>
              <a:spcAft>
                <a:spcPts val="100"/>
              </a:spcAft>
              <a:defRPr sz="850">
                <a:solidFill>
                  <a:srgbClr val="1E293B"/>
                </a:solidFill>
              </a:defRPr>
            </a:pPr>
            <a:r>
              <a:t>• Real-Time Field Seizure Recording with GPS timestamping.</a:t>
            </a:r>
          </a:p>
          <a:p>
            <a:pPr>
              <a:spcAft>
                <a:spcPts val="100"/>
              </a:spcAft>
              <a:defRPr sz="850">
                <a:solidFill>
                  <a:srgbClr val="1E293B"/>
                </a:solidFill>
              </a:defRPr>
            </a:pPr>
            <a:r>
              <a:t>• Instant Court-Ready PDF Inspection Dossiers with evidence coordinate bounding boxes.</a:t>
            </a:r>
          </a:p>
          <a:p>
            <a:pPr>
              <a:spcAft>
                <a:spcPts val="100"/>
              </a:spcAft>
              <a:defRPr sz="850">
                <a:solidFill>
                  <a:srgbClr val="1E293B"/>
                </a:solidFill>
              </a:defRPr>
            </a:pPr>
            <a:r>
              <a:t>• Inter-Departmental Case Forwarding to Laboratory and Legal Directorates.</a:t>
            </a:r>
          </a:p>
          <a:p>
            <a:pPr>
              <a:spcAft>
                <a:spcPts val="100"/>
              </a:spcAft>
              <a:defRPr sz="850">
                <a:solidFill>
                  <a:srgbClr val="1E293B"/>
                </a:solidFill>
              </a:defRPr>
            </a:pPr>
            <a:r>
              <a:t>• Zero-Downtime Offline Functionality in remote rural mandis.</a:t>
            </a:r>
          </a:p>
        </p:txBody>
      </p:sp>
      <p:graphicFrame>
        <p:nvGraphicFramePr>
          <p:cNvPr id="6" name="Table 5"/>
          <p:cNvGraphicFramePr>
            <a:graphicFrameLocks noGrp="1"/>
          </p:cNvGraphicFramePr>
          <p:nvPr/>
        </p:nvGraphicFramePr>
        <p:xfrm>
          <a:off x="457200" y="4480560"/>
          <a:ext cx="6217920" cy="1737360"/>
        </p:xfrm>
        <a:graphic>
          <a:graphicData uri="http://schemas.openxmlformats.org/drawingml/2006/table">
            <a:tbl>
              <a:tblPr firstRow="1" bandRow="1">
                <a:tableStyleId>{5C22544A-7EE6-4342-B048-85BDC9FD1C3A}</a:tableStyleId>
              </a:tblPr>
              <a:tblGrid>
                <a:gridCol w="2377440"/>
                <a:gridCol w="1920240"/>
                <a:gridCol w="1920240"/>
              </a:tblGrid>
              <a:tr h="434340">
                <a:tc>
                  <a:txBody>
                    <a:bodyPr/>
                    <a:lstStyle/>
                    <a:p>
                      <a:pPr>
                        <a:defRPr sz="800" b="1">
                          <a:solidFill>
                            <a:srgbClr val="FFFFFF"/>
                          </a:solidFill>
                        </a:defRPr>
                      </a:pPr>
                      <a:r>
                        <a:t>Metric / Parameter</a:t>
                      </a:r>
                    </a:p>
                  </a:txBody>
                  <a:tcPr>
                    <a:solidFill>
                      <a:srgbClr val="1E3A8A"/>
                    </a:solidFill>
                  </a:tcPr>
                </a:tc>
                <a:tc>
                  <a:txBody>
                    <a:bodyPr/>
                    <a:lstStyle/>
                    <a:p>
                      <a:pPr>
                        <a:defRPr sz="800" b="1">
                          <a:solidFill>
                            <a:srgbClr val="FFFFFF"/>
                          </a:solidFill>
                        </a:defRPr>
                      </a:pPr>
                      <a:r>
                        <a:t>Manual Inspection</a:t>
                      </a:r>
                    </a:p>
                  </a:txBody>
                  <a:tcPr>
                    <a:solidFill>
                      <a:srgbClr val="1E3A8A"/>
                    </a:solidFill>
                  </a:tcPr>
                </a:tc>
                <a:tc>
                  <a:txBody>
                    <a:bodyPr/>
                    <a:lstStyle/>
                    <a:p>
                      <a:pPr>
                        <a:defRPr sz="800" b="1">
                          <a:solidFill>
                            <a:srgbClr val="FFFFFF"/>
                          </a:solidFill>
                        </a:defRPr>
                      </a:pPr>
                      <a:r>
                        <a:t>LegalMetriX AI</a:t>
                      </a:r>
                    </a:p>
                  </a:txBody>
                  <a:tcPr>
                    <a:solidFill>
                      <a:srgbClr val="1E3A8A"/>
                    </a:solidFill>
                  </a:tcPr>
                </a:tc>
              </a:tr>
              <a:tr h="434340">
                <a:tc>
                  <a:txBody>
                    <a:bodyPr/>
                    <a:lstStyle/>
                    <a:p>
                      <a:pPr>
                        <a:defRPr sz="800">
                          <a:solidFill>
                            <a:srgbClr val="1E293B"/>
                          </a:solidFill>
                        </a:defRPr>
                      </a:pPr>
                      <a:r>
                        <a:t>Audit Time per Commodity</a:t>
                      </a:r>
                    </a:p>
                  </a:txBody>
                  <a:tcPr>
                    <a:solidFill>
                      <a:srgbClr val="EFF6FF"/>
                    </a:solidFill>
                  </a:tcPr>
                </a:tc>
                <a:tc>
                  <a:txBody>
                    <a:bodyPr/>
                    <a:lstStyle/>
                    <a:p>
                      <a:pPr>
                        <a:defRPr sz="800">
                          <a:solidFill>
                            <a:srgbClr val="1E293B"/>
                          </a:solidFill>
                        </a:defRPr>
                      </a:pPr>
                      <a:r>
                        <a:t>8 – 10 Minutes</a:t>
                      </a:r>
                    </a:p>
                  </a:txBody>
                  <a:tcPr>
                    <a:solidFill>
                      <a:srgbClr val="EFF6FF"/>
                    </a:solidFill>
                  </a:tcPr>
                </a:tc>
                <a:tc>
                  <a:txBody>
                    <a:bodyPr/>
                    <a:lstStyle/>
                    <a:p>
                      <a:pPr>
                        <a:defRPr sz="800">
                          <a:solidFill>
                            <a:srgbClr val="1E293B"/>
                          </a:solidFill>
                        </a:defRPr>
                      </a:pPr>
                      <a:r>
                        <a:t>1.8 – 2.4 Seconds (95% Faster)</a:t>
                      </a:r>
                    </a:p>
                  </a:txBody>
                  <a:tcPr>
                    <a:solidFill>
                      <a:srgbClr val="EFF6FF"/>
                    </a:solidFill>
                  </a:tcPr>
                </a:tc>
              </a:tr>
              <a:tr h="434340">
                <a:tc>
                  <a:txBody>
                    <a:bodyPr/>
                    <a:lstStyle/>
                    <a:p>
                      <a:pPr>
                        <a:defRPr sz="800">
                          <a:solidFill>
                            <a:srgbClr val="1E293B"/>
                          </a:solidFill>
                        </a:defRPr>
                      </a:pPr>
                      <a:r>
                        <a:t>Evidence Bounding Box ROI</a:t>
                      </a:r>
                    </a:p>
                  </a:txBody>
                  <a:tcPr>
                    <a:solidFill>
                      <a:srgbClr val="FFFFFF"/>
                    </a:solidFill>
                  </a:tcPr>
                </a:tc>
                <a:tc>
                  <a:txBody>
                    <a:bodyPr/>
                    <a:lstStyle/>
                    <a:p>
                      <a:pPr>
                        <a:defRPr sz="800">
                          <a:solidFill>
                            <a:srgbClr val="1E293B"/>
                          </a:solidFill>
                        </a:defRPr>
                      </a:pPr>
                      <a:r>
                        <a:t>Manual Photo Markup</a:t>
                      </a:r>
                    </a:p>
                  </a:txBody>
                  <a:tcPr>
                    <a:solidFill>
                      <a:srgbClr val="FFFFFF"/>
                    </a:solidFill>
                  </a:tcPr>
                </a:tc>
                <a:tc>
                  <a:txBody>
                    <a:bodyPr/>
                    <a:lstStyle/>
                    <a:p>
                      <a:pPr>
                        <a:defRPr sz="800">
                          <a:solidFill>
                            <a:srgbClr val="1E293B"/>
                          </a:solidFill>
                        </a:defRPr>
                      </a:pPr>
                      <a:r>
                        <a:t>Automated Coordinate Extraction</a:t>
                      </a:r>
                    </a:p>
                  </a:txBody>
                  <a:tcPr>
                    <a:solidFill>
                      <a:srgbClr val="FFFFFF"/>
                    </a:solidFill>
                  </a:tcPr>
                </a:tc>
              </a:tr>
              <a:tr h="434340">
                <a:tc>
                  <a:txBody>
                    <a:bodyPr/>
                    <a:lstStyle/>
                    <a:p>
                      <a:pPr>
                        <a:defRPr sz="800">
                          <a:solidFill>
                            <a:srgbClr val="1E293B"/>
                          </a:solidFill>
                        </a:defRPr>
                      </a:pPr>
                      <a:r>
                        <a:t>Chain of Custody &amp; Security</a:t>
                      </a:r>
                    </a:p>
                  </a:txBody>
                  <a:tcPr>
                    <a:solidFill>
                      <a:srgbClr val="EFF6FF"/>
                    </a:solidFill>
                  </a:tcPr>
                </a:tc>
                <a:tc>
                  <a:txBody>
                    <a:bodyPr/>
                    <a:lstStyle/>
                    <a:p>
                      <a:pPr>
                        <a:defRPr sz="800">
                          <a:solidFill>
                            <a:srgbClr val="1E293B"/>
                          </a:solidFill>
                        </a:defRPr>
                      </a:pPr>
                      <a:r>
                        <a:t>Paper Form-1 Risk</a:t>
                      </a:r>
                    </a:p>
                  </a:txBody>
                  <a:tcPr>
                    <a:solidFill>
                      <a:srgbClr val="EFF6FF"/>
                    </a:solidFill>
                  </a:tcPr>
                </a:tc>
                <a:tc>
                  <a:txBody>
                    <a:bodyPr/>
                    <a:lstStyle/>
                    <a:p>
                      <a:pPr>
                        <a:defRPr sz="800">
                          <a:solidFill>
                            <a:srgbClr val="1E293B"/>
                          </a:solidFill>
                        </a:defRPr>
                      </a:pPr>
                      <a:r>
                        <a:t>SHA-256 Hash + Audit Trail</a:t>
                      </a:r>
                    </a:p>
                  </a:txBody>
                  <a:tcPr>
                    <a:solidFill>
                      <a:srgbClr val="EFF6FF"/>
                    </a:solidFill>
                  </a:tcPr>
                </a:tc>
              </a:tr>
            </a:tbl>
          </a:graphicData>
        </a:graphic>
      </p:graphicFrame>
      <p:sp>
        <p:nvSpPr>
          <p:cNvPr id="7" name="TextBox 6"/>
          <p:cNvSpPr txBox="1"/>
          <p:nvPr/>
        </p:nvSpPr>
        <p:spPr>
          <a:xfrm>
            <a:off x="7132320" y="914400"/>
            <a:ext cx="4572000" cy="365760"/>
          </a:xfrm>
          <a:prstGeom prst="rect">
            <a:avLst/>
          </a:prstGeom>
          <a:noFill/>
        </p:spPr>
        <p:txBody>
          <a:bodyPr wrap="none">
            <a:spAutoFit/>
          </a:bodyPr>
          <a:lstStyle/>
          <a:p>
            <a:pPr>
              <a:defRPr b="1" sz="1150">
                <a:solidFill>
                  <a:srgbClr val="1E3A8A"/>
                </a:solidFill>
              </a:defRPr>
            </a:pPr>
            <a:r>
              <a:t>AI Model Accuracy &amp; Reliability Metrics :</a:t>
            </a:r>
          </a:p>
        </p:txBody>
      </p:sp>
      <p:sp>
        <p:nvSpPr>
          <p:cNvPr id="8" name="Rounded Rectangle 7"/>
          <p:cNvSpPr/>
          <p:nvPr/>
        </p:nvSpPr>
        <p:spPr>
          <a:xfrm>
            <a:off x="7132320" y="1371600"/>
            <a:ext cx="4572000" cy="1097280"/>
          </a:xfrm>
          <a:prstGeom prst="roundRect">
            <a:avLst/>
          </a:prstGeom>
          <a:solidFill>
            <a:srgbClr val="DCFCE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solidFill>
                  <a:srgbClr val="1E3A8A"/>
                </a:solidFill>
              </a:defRPr>
            </a:pPr>
            <a:r>
              <a:t>98.4% — OCR Character Precision</a:t>
            </a:r>
          </a:p>
          <a:p>
            <a:pPr>
              <a:spcBef>
                <a:spcPts val="200"/>
              </a:spcBef>
              <a:defRPr sz="800">
                <a:solidFill>
                  <a:srgbClr val="1E293B"/>
                </a:solidFill>
              </a:defRPr>
            </a:pPr>
            <a:r>
              <a:t>Evaluated across printed English and Hindi Devanagari text panels.</a:t>
            </a:r>
          </a:p>
        </p:txBody>
      </p:sp>
      <p:sp>
        <p:nvSpPr>
          <p:cNvPr id="9" name="Rounded Rectangle 8"/>
          <p:cNvSpPr/>
          <p:nvPr/>
        </p:nvSpPr>
        <p:spPr>
          <a:xfrm>
            <a:off x="7132320" y="2606040"/>
            <a:ext cx="4572000" cy="1097280"/>
          </a:xfrm>
          <a:prstGeom prst="roundRect">
            <a:avLst/>
          </a:prstGeom>
          <a:solidFill>
            <a:srgbClr val="DBEAFE"/>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solidFill>
                  <a:srgbClr val="1E3A8A"/>
                </a:solidFill>
              </a:defRPr>
            </a:pPr>
            <a:r>
              <a:t>100% — Rule 6 &amp; 12 Compliance Coverage</a:t>
            </a:r>
          </a:p>
          <a:p>
            <a:pPr>
              <a:spcBef>
                <a:spcPts val="200"/>
              </a:spcBef>
              <a:defRPr sz="800">
                <a:solidFill>
                  <a:srgbClr val="1E293B"/>
                </a:solidFill>
              </a:defRPr>
            </a:pPr>
            <a:r>
              <a:t>Full evaluation across MRP, Net Quantity, Mfg Date, Expiry, Address, and Care.</a:t>
            </a:r>
          </a:p>
        </p:txBody>
      </p:sp>
      <p:sp>
        <p:nvSpPr>
          <p:cNvPr id="10" name="Rounded Rectangle 9"/>
          <p:cNvSpPr/>
          <p:nvPr/>
        </p:nvSpPr>
        <p:spPr>
          <a:xfrm>
            <a:off x="7132320" y="3840480"/>
            <a:ext cx="4572000" cy="1097280"/>
          </a:xfrm>
          <a:prstGeom prst="roundRect">
            <a:avLst/>
          </a:prstGeom>
          <a:solidFill>
            <a:srgbClr val="FEF08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solidFill>
                  <a:srgbClr val="1E3A8A"/>
                </a:solidFill>
              </a:defRPr>
            </a:pPr>
            <a:r>
              <a:t>&lt; 2.4s — Average Pipeline Latency</a:t>
            </a:r>
          </a:p>
          <a:p>
            <a:pPr>
              <a:spcBef>
                <a:spcPts val="200"/>
              </a:spcBef>
              <a:defRPr sz="800">
                <a:solidFill>
                  <a:srgbClr val="1E293B"/>
                </a:solidFill>
              </a:defRPr>
            </a:pPr>
            <a:r>
              <a:t>Client compression + dual-pass OCR + AI semantic verification.</a:t>
            </a:r>
          </a:p>
        </p:txBody>
      </p:sp>
      <p:sp>
        <p:nvSpPr>
          <p:cNvPr id="11" name="Rounded Rectangle 10"/>
          <p:cNvSpPr/>
          <p:nvPr/>
        </p:nvSpPr>
        <p:spPr>
          <a:xfrm>
            <a:off x="7132320" y="5074920"/>
            <a:ext cx="4572000" cy="1097280"/>
          </a:xfrm>
          <a:prstGeom prst="roundRect">
            <a:avLst/>
          </a:prstGeom>
          <a:solidFill>
            <a:srgbClr val="F3E8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solidFill>
                  <a:srgbClr val="1E3A8A"/>
                </a:solidFill>
              </a:defRPr>
            </a:pPr>
            <a:r>
              <a:t>100% — Offline Synchronization Success</a:t>
            </a:r>
          </a:p>
          <a:p>
            <a:pPr>
              <a:spcBef>
                <a:spcPts val="200"/>
              </a:spcBef>
              <a:defRPr sz="800">
                <a:solidFill>
                  <a:srgbClr val="1E293B"/>
                </a:solidFill>
              </a:defRPr>
            </a:pPr>
            <a:r>
              <a:t>IndexedDB background queue guarantees zero loss of market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RESEARCH AND REFERENCES</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1E3A8A"/>
                </a:solidFill>
                <a:latin typeface="Arial"/>
              </a:defRPr>
            </a:pPr>
            <a:r>
              <a:t>SMART INDIA</a:t>
            </a:r>
            <a:br/>
            <a:r>
              <a:t>HACKATHON 2024</a:t>
            </a:r>
          </a:p>
        </p:txBody>
      </p:sp>
      <p:sp>
        <p:nvSpPr>
          <p:cNvPr id="5" name="Rectangle 4"/>
          <p:cNvSpPr/>
          <p:nvPr/>
        </p:nvSpPr>
        <p:spPr>
          <a:xfrm>
            <a:off x="457200" y="914400"/>
            <a:ext cx="5486400" cy="2651760"/>
          </a:xfrm>
          <a:prstGeom prst="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950">
                <a:solidFill>
                  <a:srgbClr val="1E3A8A"/>
                </a:solidFill>
              </a:defRPr>
            </a:pPr>
            <a:r>
              <a:t>Academic Research &amp; Computer Vision Models :</a:t>
            </a:r>
          </a:p>
          <a:p>
            <a:pPr>
              <a:spcAft>
                <a:spcPts val="200"/>
              </a:spcAft>
              <a:defRPr sz="800">
                <a:solidFill>
                  <a:srgbClr val="1E293B"/>
                </a:solidFill>
              </a:defRPr>
            </a:pPr>
            <a:r>
              <a:t>1. 'Deep Learning Approaches for Text Localization in Complex Packaging' — IEEE Access, 2023.</a:t>
            </a:r>
          </a:p>
          <a:p>
            <a:pPr>
              <a:spcAft>
                <a:spcPts val="200"/>
              </a:spcAft>
              <a:defRPr sz="800">
                <a:solidFill>
                  <a:srgbClr val="1E293B"/>
                </a:solidFill>
              </a:defRPr>
            </a:pPr>
            <a:r>
              <a:t>2. 'Laplacian Variance Metric for Real-Time Video Blur Detection' — Computer Vision Journal, 2022.</a:t>
            </a:r>
          </a:p>
          <a:p>
            <a:pPr>
              <a:spcAft>
                <a:spcPts val="200"/>
              </a:spcAft>
              <a:defRPr sz="800">
                <a:solidFill>
                  <a:srgbClr val="1E293B"/>
                </a:solidFill>
              </a:defRPr>
            </a:pPr>
            <a:r>
              <a:t>3. 'Multi-Surface Keyframe Fusion in Continuous Video Rotation' — Pattern Recognition Letters, 2024.</a:t>
            </a:r>
          </a:p>
        </p:txBody>
      </p:sp>
      <p:sp>
        <p:nvSpPr>
          <p:cNvPr id="6" name="Rectangle 5"/>
          <p:cNvSpPr/>
          <p:nvPr/>
        </p:nvSpPr>
        <p:spPr>
          <a:xfrm>
            <a:off x="6217920" y="914400"/>
            <a:ext cx="5486400" cy="2651760"/>
          </a:xfrm>
          <a:prstGeom prst="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950">
                <a:solidFill>
                  <a:srgbClr val="1E3A8A"/>
                </a:solidFill>
              </a:defRPr>
            </a:pPr>
            <a:r>
              <a:t>Statutory Acts &amp; Regulatory Standards :</a:t>
            </a:r>
          </a:p>
          <a:p>
            <a:pPr>
              <a:spcAft>
                <a:spcPts val="200"/>
              </a:spcAft>
              <a:defRPr sz="800">
                <a:solidFill>
                  <a:srgbClr val="1E293B"/>
                </a:solidFill>
              </a:defRPr>
            </a:pPr>
            <a:r>
              <a:t>1. Legal Metrology Act, 2009 (Act No. 1 of 2010), Ministry of Consumer Affairs, Govt. of India.</a:t>
            </a:r>
          </a:p>
          <a:p>
            <a:pPr>
              <a:spcAft>
                <a:spcPts val="200"/>
              </a:spcAft>
              <a:defRPr sz="800">
                <a:solidFill>
                  <a:srgbClr val="1E293B"/>
                </a:solidFill>
              </a:defRPr>
            </a:pPr>
            <a:r>
              <a:t>2. Legal Metrology (Packaged Commodities) Rules, 2011 &amp; Amendments (2017, 2021, 2022).</a:t>
            </a:r>
          </a:p>
          <a:p>
            <a:pPr>
              <a:spcAft>
                <a:spcPts val="200"/>
              </a:spcAft>
              <a:defRPr sz="800">
                <a:solidFill>
                  <a:srgbClr val="1E293B"/>
                </a:solidFill>
              </a:defRPr>
            </a:pPr>
            <a:r>
              <a:t>3. Unit Sale Price (USP) Guidelines &amp; Dual MRP Directives (Section 18 &amp; 36).</a:t>
            </a:r>
          </a:p>
        </p:txBody>
      </p:sp>
      <p:sp>
        <p:nvSpPr>
          <p:cNvPr id="7" name="Rectangle 6"/>
          <p:cNvSpPr/>
          <p:nvPr/>
        </p:nvSpPr>
        <p:spPr>
          <a:xfrm>
            <a:off x="457200" y="3749039"/>
            <a:ext cx="5486400" cy="2651760"/>
          </a:xfrm>
          <a:prstGeom prst="rect">
            <a:avLst/>
          </a:prstGeom>
          <a:solidFill>
            <a:srgbClr val="FEF08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950">
                <a:solidFill>
                  <a:srgbClr val="1E3A8A"/>
                </a:solidFill>
              </a:defRPr>
            </a:pPr>
            <a:r>
              <a:t>Live Project Deliverables &amp; Links :</a:t>
            </a:r>
          </a:p>
          <a:p>
            <a:pPr>
              <a:spcAft>
                <a:spcPts val="200"/>
              </a:spcAft>
              <a:defRPr sz="800">
                <a:solidFill>
                  <a:srgbClr val="1E293B"/>
                </a:solidFill>
              </a:defRPr>
            </a:pPr>
            <a:r>
              <a:t>1. Live Web Platform: https://legal-metrology-dist-three.vercel.app/</a:t>
            </a:r>
          </a:p>
          <a:p>
            <a:pPr>
              <a:spcAft>
                <a:spcPts val="200"/>
              </a:spcAft>
              <a:defRPr sz="800">
                <a:solidFill>
                  <a:srgbClr val="1E293B"/>
                </a:solidFill>
              </a:defRPr>
            </a:pPr>
            <a:r>
              <a:t>2. Platform Specification Manual: /LegalMetriX_Platform_Documentation.pdf</a:t>
            </a:r>
          </a:p>
          <a:p>
            <a:pPr>
              <a:spcAft>
                <a:spcPts val="200"/>
              </a:spcAft>
              <a:defRPr sz="800">
                <a:solidFill>
                  <a:srgbClr val="1E293B"/>
                </a:solidFill>
              </a:defRPr>
            </a:pPr>
            <a:r>
              <a:t>3. Judges Q&amp;A Defense Manual: /SIH_Hackathon_Judges_QA_Defense_Manual.pdf</a:t>
            </a:r>
          </a:p>
          <a:p>
            <a:pPr>
              <a:spcAft>
                <a:spcPts val="200"/>
              </a:spcAft>
              <a:defRPr sz="800">
                <a:solidFill>
                  <a:srgbClr val="1E293B"/>
                </a:solidFill>
              </a:defRPr>
            </a:pPr>
            <a:r>
              <a:t>4. GitHub Repository: github.com/bathulayashwanth6840-cmd/legal-metrology-dist</a:t>
            </a:r>
          </a:p>
        </p:txBody>
      </p:sp>
      <p:sp>
        <p:nvSpPr>
          <p:cNvPr id="8" name="Rectangle 7"/>
          <p:cNvSpPr/>
          <p:nvPr/>
        </p:nvSpPr>
        <p:spPr>
          <a:xfrm>
            <a:off x="6217920" y="3749039"/>
            <a:ext cx="5486400" cy="2651760"/>
          </a:xfrm>
          <a:prstGeom prst="rect">
            <a:avLst/>
          </a:prstGeom>
          <a:solidFill>
            <a:srgbClr val="FEF08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950">
                <a:solidFill>
                  <a:srgbClr val="1E3A8A"/>
                </a:solidFill>
              </a:defRPr>
            </a:pPr>
            <a:r>
              <a:t>Government Integration &amp; Reference Standards :</a:t>
            </a:r>
          </a:p>
          <a:p>
            <a:pPr>
              <a:spcAft>
                <a:spcPts val="200"/>
              </a:spcAft>
              <a:defRPr sz="800">
                <a:solidFill>
                  <a:srgbClr val="1E293B"/>
                </a:solidFill>
              </a:defRPr>
            </a:pPr>
            <a:r>
              <a:t>1. INGRAM (National Consumer Helpline NCH 1915 / consumerhelpline.gov.in).</a:t>
            </a:r>
          </a:p>
          <a:p>
            <a:pPr>
              <a:spcAft>
                <a:spcPts val="200"/>
              </a:spcAft>
              <a:defRPr sz="800">
                <a:solidFill>
                  <a:srgbClr val="1E293B"/>
                </a:solidFill>
              </a:defRPr>
            </a:pPr>
            <a:r>
              <a:t>2. FSSAI License &amp; Food Safety Standards Act (Section 31 Verification Registry).</a:t>
            </a:r>
          </a:p>
          <a:p>
            <a:pPr>
              <a:spcAft>
                <a:spcPts val="200"/>
              </a:spcAft>
              <a:defRPr sz="800">
                <a:solidFill>
                  <a:srgbClr val="1E293B"/>
                </a:solidFill>
              </a:defRPr>
            </a:pPr>
            <a:r>
              <a:t>3. Bureau of Indian Standards (BIS) IS 10001 Standard Packaged Quantities.</a:t>
            </a:r>
          </a:p>
          <a:p>
            <a:pPr>
              <a:spcAft>
                <a:spcPts val="200"/>
              </a:spcAft>
              <a:defRPr sz="800">
                <a:solidFill>
                  <a:srgbClr val="1E293B"/>
                </a:solidFill>
              </a:defRPr>
            </a:pPr>
            <a:r>
              <a:t>4. e-Daakhil Consumer Court Grievance Filing Integration.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AI &amp; COMPUTER VISION</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 Why use dual-pass PaddleOCR + Gemini Vision instead of Gemini alone?</a:t>
            </a:r>
          </a:p>
          <a:p>
            <a:r>
              <a:rPr b="1" sz="950">
                <a:solidFill>
                  <a:srgbClr val="166534"/>
                </a:solidFill>
              </a:rPr>
              <a:t>Winning Answer: </a:t>
            </a:r>
            <a:r>
              <a:rPr sz="900">
                <a:solidFill>
                  <a:srgbClr val="1E293B"/>
                </a:solidFill>
              </a:rPr>
              <a:t>Using a dual-pass pipeline solves cost, latency, and hallucination. PaddleOCR performs local, zero-cost character bounding box detection without hallucination. Gemini Vision acts as a semantic context layer (verifying 'Incl. of all taxes' or distinguishing manufacturer vs packer). If PaddleOCR detects zero text, Gemini is strictly prevented from guessing.</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Q2: How do you handle motion blur in 360° rotational video scanning?</a:t>
            </a:r>
          </a:p>
          <a:p>
            <a:r>
              <a:rPr b="1" sz="950">
                <a:solidFill>
                  <a:srgbClr val="166534"/>
                </a:solidFill>
              </a:rPr>
              <a:t>Winning Answer: </a:t>
            </a:r>
            <a:r>
              <a:rPr sz="900">
                <a:solidFill>
                  <a:srgbClr val="1E293B"/>
                </a:solidFill>
              </a:rPr>
              <a:t>We sample 24–36 frames across the rotation arc and compute the 2D Laplacian variance: Sharpness = Var(Laplacian(I)). Blurry frames caused by quick rotation fall below our dynamic threshold and are automatically discarded. Only the sharpest frame from each 90° quadrant is analyzed.</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Q3: How do you handle glare on shiny plastic and metallic wrappers?</a:t>
            </a:r>
          </a:p>
          <a:p>
            <a:r>
              <a:rPr b="1" sz="950">
                <a:solidFill>
                  <a:srgbClr val="166534"/>
                </a:solidFill>
              </a:rPr>
              <a:t>Winning Answer: </a:t>
            </a:r>
            <a:r>
              <a:rPr sz="900">
                <a:solidFill>
                  <a:srgbClr val="1E293B"/>
                </a:solidFill>
              </a:rPr>
              <a:t>3-tier defense: (1) Client-side quality gate checking reflection; (2) Adaptive Histogram Equalization (CLAHE) balancing dynamic range; (3) Anti-hallucination guardrail: if text is obscured by glare, outputs 'NEEDS VERIFICATION — Glare Obscuration' rather than falsely failing the product.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LEGAL METROLOGY ACT &amp; RULES</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Q4: Can AI legally issue a fine or penalize a manufacturer in court?</a:t>
            </a:r>
          </a:p>
          <a:p>
            <a:r>
              <a:rPr b="1" sz="950">
                <a:solidFill>
                  <a:srgbClr val="166534"/>
                </a:solidFill>
              </a:rPr>
              <a:t>Winning Answer: </a:t>
            </a:r>
            <a:r>
              <a:rPr sz="900">
                <a:solidFill>
                  <a:srgbClr val="1E293B"/>
                </a:solidFill>
              </a:rPr>
              <a:t>Absolutely not. Under the Legal Metrology Act 2009, only authorized gazetted officers (Inspectors or Deputy Controllers) possess statutory authority to issue notices or compound offenses. Our AI is strictly assistive. A case only becomes legally enforceable when an officer reviews the evidence, selects a verdict, and applies their Digital Signature Seal.</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Q5: What specific rules of PCR 2011 do you evaluate?</a:t>
            </a:r>
          </a:p>
          <a:p>
            <a:r>
              <a:rPr b="1" sz="950">
                <a:solidFill>
                  <a:srgbClr val="166534"/>
                </a:solidFill>
              </a:rPr>
              <a:t>Winning Answer: </a:t>
            </a:r>
            <a:r>
              <a:rPr sz="900">
                <a:solidFill>
                  <a:srgbClr val="1E293B"/>
                </a:solidFill>
              </a:rPr>
              <a:t>All mandatory declarations under Rule 6(1) and Rule 12: Rule 6(1)(a) Generic Name, 6(1)(b) Net Qty in metric units (g, kg, ml, L), 6(1)(c) Mfg/Packing Date, 6(1)(d) Expiry Date, 6(1)(e) MRP 'Rs. XX (Incl. of all taxes)', 6(1)(f) Complete Address with PIN code, 6(1)(g) Consumer Care details, and 6(1)(n) Country of Origin.</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Q6: How do you detect Dual MRP stickers pasted over packaging?</a:t>
            </a:r>
          </a:p>
          <a:p>
            <a:r>
              <a:rPr b="1" sz="950">
                <a:solidFill>
                  <a:srgbClr val="166534"/>
                </a:solidFill>
              </a:rPr>
              <a:t>Winning Answer: </a:t>
            </a:r>
            <a:r>
              <a:rPr sz="900">
                <a:solidFill>
                  <a:srgbClr val="1E293B"/>
                </a:solidFill>
              </a:rPr>
              <a:t>Dual MRP violates Section 18. Our engine checks for multiple distinct prices matching 'Rs.' / 'MRP' on the same panel, as well as detecting bounding-box overlays indicating a price sticker pasted over pre-printed text. It immediately flags a High-Priority Potential Violation.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SECURITY, INTEGRITY &amp; TAMPER-PROOFING</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Q7: How do you ensure photographic evidence is authentic and not faked?</a:t>
            </a:r>
          </a:p>
          <a:p>
            <a:r>
              <a:rPr b="1" sz="950">
                <a:solidFill>
                  <a:srgbClr val="166534"/>
                </a:solidFill>
              </a:rPr>
              <a:t>Winning Answer: </a:t>
            </a:r>
            <a:r>
              <a:rPr sz="900">
                <a:solidFill>
                  <a:srgbClr val="1E293B"/>
                </a:solidFill>
              </a:rPr>
              <a:t>Strict Chain-of-Custody: (1) Direct Camera Hardware Binding capturing device sensor metadata, timestamps, and GPS geolocation; (2) Cryptographic SHA-256 Hashing: every photo is hashed immediately upon capture; (3) Immutable audit trail where any pixel modification breaks the hash.</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Q8: Can a corrupt inspector delete a violation after accepting a bribe?</a:t>
            </a:r>
          </a:p>
          <a:p>
            <a:r>
              <a:rPr b="1" sz="950">
                <a:solidFill>
                  <a:srgbClr val="166534"/>
                </a:solidFill>
              </a:rPr>
              <a:t>Winning Answer: </a:t>
            </a:r>
            <a:r>
              <a:rPr sz="900">
                <a:solidFill>
                  <a:srgbClr val="1E293B"/>
                </a:solidFill>
              </a:rPr>
              <a:t>No. All inspection scans and complaint records write to an Append-Only Immutable Audit Log. Once logged with AI-detected non-compliances, field inspectors cannot delete or silence records. Case reclassification requires senior official sign-off with mandatory statutory justification notes.</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Q9: What prevents citizens from accessing confidential officer investigation notes?</a:t>
            </a:r>
          </a:p>
          <a:p>
            <a:r>
              <a:rPr b="1" sz="950">
                <a:solidFill>
                  <a:srgbClr val="166534"/>
                </a:solidFill>
              </a:rPr>
              <a:t>Winning Answer: </a:t>
            </a:r>
            <a:r>
              <a:rPr sz="900">
                <a:solidFill>
                  <a:srgbClr val="1E293B"/>
                </a:solidFill>
              </a:rPr>
              <a:t>Role-Based Data Redaction on public endpoint (/track). Citizens see commodity name, date filed, and milestone progress, while internal officer investigation remarks, inspector phone numbers, and confidential compounding receipts are completely stripped.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EDGE CASES &amp; PACKAGING DEFECTS</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Q10: How does the system handle multi-language labels (English + Hindi + Regional)?</a:t>
            </a:r>
          </a:p>
          <a:p>
            <a:r>
              <a:rPr b="1" sz="950">
                <a:solidFill>
                  <a:srgbClr val="166534"/>
                </a:solidFill>
              </a:rPr>
              <a:t>Winning Answer: </a:t>
            </a:r>
            <a:r>
              <a:rPr sz="900">
                <a:solidFill>
                  <a:srgbClr val="1E293B"/>
                </a:solidFill>
              </a:rPr>
              <a:t>Under Rule 9 of PCR 2011, declarations must be in English or Hindi (Devanagari), with optional regional languages. Our OCR model supports Devanagari and Indic scripts, aggregating multi-language bounding boxes and verifying compliance on whichever satisfies the statutory requirement.</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Q11: What happens if a package is torn, crumpled, or partially stained?</a:t>
            </a:r>
          </a:p>
          <a:p>
            <a:r>
              <a:rPr b="1" sz="950">
                <a:solidFill>
                  <a:srgbClr val="166534"/>
                </a:solidFill>
              </a:rPr>
              <a:t>Winning Answer: </a:t>
            </a:r>
            <a:r>
              <a:rPr sz="900">
                <a:solidFill>
                  <a:srgbClr val="1E293B"/>
                </a:solidFill>
              </a:rPr>
              <a:t>Confidence Threshold Gate: If character recognition confidence drops below 80% due to tearing or smudges, the AI does not guess missing words. It flags the declaration as 'NEEDS REVIEW — Low Visual Confidence' with an evidence box, prompting a close-up crop or physical caliper review.</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Q12: How do you differentiate Manufacturer, Packer, and Importer addresses?</a:t>
            </a:r>
          </a:p>
          <a:p>
            <a:r>
              <a:rPr b="1" sz="950">
                <a:solidFill>
                  <a:srgbClr val="166534"/>
                </a:solidFill>
              </a:rPr>
              <a:t>Winning Answer: </a:t>
            </a:r>
            <a:r>
              <a:rPr sz="900">
                <a:solidFill>
                  <a:srgbClr val="1E293B"/>
                </a:solidFill>
              </a:rPr>
              <a:t>The AI semantic layer searches for statutory keyword markers ('Mfg by', 'Packed by', 'Imported by') and verifies whether the entity name is accompanied by a complete physical address including postal PIN code, as required under Rule 6(1)(a).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E-COMMERCE &amp; COUNTERFEIT DETECTION</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Q13: Does LegalMetriX work for e-commerce (Amazon, Flipkart, Blinkit, Zepto)?</a:t>
            </a:r>
          </a:p>
          <a:p>
            <a:r>
              <a:rPr b="1" sz="950">
                <a:solidFill>
                  <a:srgbClr val="166534"/>
                </a:solidFill>
              </a:rPr>
              <a:t>Winning Answer: </a:t>
            </a:r>
            <a:r>
              <a:rPr sz="900">
                <a:solidFill>
                  <a:srgbClr val="1E293B"/>
                </a:solidFill>
              </a:rPr>
              <a:t>Yes! Under Rule 6(10) of PCR 2011, digital marketplace listings must display the exact same mandatory declarations as physical packaging. LegalMetriX can ingest product catalog screenshots or e-commerce API feeds and cross-verify digital declarations against physical warehouse samples.</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Q14: How can this platform assist in catching counterfeit commodities?</a:t>
            </a:r>
          </a:p>
          <a:p>
            <a:r>
              <a:rPr b="1" sz="950">
                <a:solidFill>
                  <a:srgbClr val="166534"/>
                </a:solidFill>
              </a:rPr>
              <a:t>Winning Answer: </a:t>
            </a:r>
            <a:r>
              <a:rPr sz="900">
                <a:solidFill>
                  <a:srgbClr val="1E293B"/>
                </a:solidFill>
              </a:rPr>
              <a:t>Counterfeits often have subtle legal metrology flaws: mismatched barcodes, fake FSSAI numbers (invalid checksums or 13-digit instead of 14-digit strings), non-existent PIN codes, and missing consumer helpline emails. LegalMetriX instantly flags these mathematical and statutory inconsistencies.</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Q15: How do you check Unit Sale Price (USP) compliance on multi-piece packs?</a:t>
            </a:r>
          </a:p>
          <a:p>
            <a:r>
              <a:rPr b="1" sz="950">
                <a:solidFill>
                  <a:srgbClr val="166534"/>
                </a:solidFill>
              </a:rPr>
              <a:t>Winning Answer: </a:t>
            </a:r>
            <a:r>
              <a:rPr sz="900">
                <a:solidFill>
                  <a:srgbClr val="1E293B"/>
                </a:solidFill>
              </a:rPr>
              <a:t>Under recent PCR amendments, packages containing more than 1 unit must declare the Unit Sale Price (e.g., 'Rs. 1.50 per g'). Our parser calculates the ratio of declared MRP to Net Quantity and verifies whether the corresponding unit price is legibly displayed alongside the total price.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65760" y="228600"/>
            <a:ext cx="1371600" cy="502920"/>
          </a:xfrm>
          <a:prstGeom prst="ellipse">
            <a:avLst/>
          </a:prstGeom>
          <a:solidFill>
            <a:srgbClr val="FFFF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Arial"/>
              </a:defRPr>
            </a:pPr>
            <a:r>
              <a:t>LegalMetriX</a:t>
            </a:r>
          </a:p>
        </p:txBody>
      </p:sp>
      <p:sp>
        <p:nvSpPr>
          <p:cNvPr id="3" name="TextBox 2"/>
          <p:cNvSpPr txBox="1"/>
          <p:nvPr/>
        </p:nvSpPr>
        <p:spPr>
          <a:xfrm>
            <a:off x="1920240" y="137160"/>
            <a:ext cx="7772400" cy="685800"/>
          </a:xfrm>
          <a:prstGeom prst="rect">
            <a:avLst/>
          </a:prstGeom>
          <a:noFill/>
        </p:spPr>
        <p:txBody>
          <a:bodyPr wrap="none">
            <a:spAutoFit/>
          </a:bodyPr>
          <a:lstStyle/>
          <a:p>
            <a:pPr algn="ctr">
              <a:defRPr sz="1900" b="1">
                <a:solidFill>
                  <a:srgbClr val="1E3A8A"/>
                </a:solidFill>
                <a:latin typeface="Arial"/>
              </a:defRPr>
            </a:pPr>
            <a:r>
              <a:t>JUDGES Q&amp;A DEFENSE: SCALABILITY, OFFLINE &amp; INTEGRATION</a:t>
            </a:r>
          </a:p>
        </p:txBody>
      </p:sp>
      <p:sp>
        <p:nvSpPr>
          <p:cNvPr id="4" name="TextBox 3"/>
          <p:cNvSpPr txBox="1"/>
          <p:nvPr/>
        </p:nvSpPr>
        <p:spPr>
          <a:xfrm>
            <a:off x="9875520" y="137160"/>
            <a:ext cx="2011680" cy="685800"/>
          </a:xfrm>
          <a:prstGeom prst="rect">
            <a:avLst/>
          </a:prstGeom>
          <a:noFill/>
        </p:spPr>
        <p:txBody>
          <a:bodyPr wrap="none">
            <a:spAutoFit/>
          </a:bodyPr>
          <a:lstStyle/>
          <a:p>
            <a:pPr algn="ctr">
              <a:defRPr sz="1000" b="1">
                <a:solidFill>
                  <a:srgbClr val="991B1B"/>
                </a:solidFill>
                <a:latin typeface="Arial"/>
              </a:defRPr>
            </a:pPr>
            <a:r>
              <a:t>JUDGES Q&amp;A</a:t>
            </a:r>
            <a:br/>
            <a:r>
              <a:t>DEFENSE GUIDE</a:t>
            </a:r>
          </a:p>
        </p:txBody>
      </p:sp>
      <p:sp>
        <p:nvSpPr>
          <p:cNvPr id="5" name="Rounded Rectangle 4"/>
          <p:cNvSpPr/>
          <p:nvPr/>
        </p:nvSpPr>
        <p:spPr>
          <a:xfrm>
            <a:off x="457200" y="10058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Q16: How will inspectors operate in remote rural areas with zero internet connectivity?</a:t>
            </a:r>
          </a:p>
          <a:p>
            <a:r>
              <a:rPr b="1" sz="950">
                <a:solidFill>
                  <a:srgbClr val="166534"/>
                </a:solidFill>
              </a:rPr>
              <a:t>Winning Answer: </a:t>
            </a:r>
            <a:r>
              <a:rPr sz="900">
                <a:solidFill>
                  <a:srgbClr val="1E293B"/>
                </a:solidFill>
              </a:rPr>
              <a:t>LegalMetriX is an Offline-First Progressive Web App (PWA) using Service Workers and IndexedDB. Inspectors can capture samples, run local client checks, and queue inspection dockets completely offline. Background sync uploads pending dossiers once network connectivity is restored.</a:t>
            </a:r>
          </a:p>
        </p:txBody>
      </p:sp>
      <p:sp>
        <p:nvSpPr>
          <p:cNvPr id="6" name="Rounded Rectangle 5"/>
          <p:cNvSpPr/>
          <p:nvPr/>
        </p:nvSpPr>
        <p:spPr>
          <a:xfrm>
            <a:off x="457200" y="2834640"/>
            <a:ext cx="11277295" cy="1691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Q17: How can LegalMetriX integrate with existing portals like INGRAM (NCH 1915)?</a:t>
            </a:r>
          </a:p>
          <a:p>
            <a:r>
              <a:rPr b="1" sz="950">
                <a:solidFill>
                  <a:srgbClr val="166534"/>
                </a:solidFill>
              </a:rPr>
              <a:t>Winning Answer: </a:t>
            </a:r>
            <a:r>
              <a:rPr sz="900">
                <a:solidFill>
                  <a:srgbClr val="1E293B"/>
                </a:solidFill>
              </a:rPr>
              <a:t>Our backend API layer is built on standardized REST JSON microservices (/api/complaints, /api/scans, /api/public/track). It can directly plug into the National Consumer Helpline (INGRAM) for citizen grievance intake and state weights &amp; measures databases for automated license verification.</a:t>
            </a:r>
          </a:p>
        </p:txBody>
      </p:sp>
      <p:sp>
        <p:nvSpPr>
          <p:cNvPr id="7" name="Rounded Rectangle 6"/>
          <p:cNvSpPr/>
          <p:nvPr/>
        </p:nvSpPr>
        <p:spPr>
          <a:xfrm>
            <a:off x="457200" y="4663440"/>
            <a:ext cx="11277295" cy="16916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b="1" sz="1100">
                <a:solidFill>
                  <a:srgbClr val="1E3A8A"/>
                </a:solidFill>
              </a:defRPr>
            </a:pPr>
            <a:r>
              <a:t>Q18: Why is LegalMetriX ready for immediate adoption by State Governments?</a:t>
            </a:r>
          </a:p>
          <a:p>
            <a:r>
              <a:rPr b="1" sz="950">
                <a:solidFill>
                  <a:srgbClr val="166534"/>
                </a:solidFill>
              </a:rPr>
              <a:t>Winning Answer: </a:t>
            </a:r>
            <a:r>
              <a:rPr sz="900">
                <a:solidFill>
                  <a:srgbClr val="1E293B"/>
                </a:solidFill>
              </a:rPr>
              <a:t>Because it is not a prototype or mock design — it is fully built, tested, and live right now at https://legal-metrology-dist-three.vercel.app/. It features zero-install web access, full English/Hindi/Telugu localization, realistic statutory workflows, role-based security, and court-ready PDF reporting.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