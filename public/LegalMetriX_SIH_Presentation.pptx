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E3A8A"/>
                </a:solidFill>
                <a:latin typeface="Georgia"/>
              </a:defRPr>
            </a:pPr>
            <a:r>
              <a:t>SMART INDIA HACKATHON 2024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0" y="365760"/>
            <a:ext cx="2011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E3A8A"/>
                </a:solidFill>
                <a:latin typeface="Arial"/>
              </a:defRPr>
            </a:pPr>
            <a:r>
              <a:t>SMART INDIA</a:t>
            </a:r>
            <a:br/>
            <a:r>
              <a:t>HACKATHON</a:t>
            </a:r>
            <a:br/>
            <a:r>
              <a:t>2024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000" b="1">
                <a:solidFill>
                  <a:srgbClr val="0F172A"/>
                </a:solidFill>
                <a:latin typeface="Arial"/>
              </a:rPr>
              <a:t>• Problem Statement ID -</a:t>
            </a:r>
            <a:r>
              <a:rPr sz="2000" b="0">
                <a:solidFill>
                  <a:srgbClr val="2563EB"/>
                </a:solidFill>
                <a:latin typeface="Arial"/>
              </a:rPr>
              <a:t> SIH-1634 (Ministry of Consumer Affairs, Food &amp; Public Distribution)</a:t>
            </a:r>
          </a:p>
          <a:p>
            <a:pPr>
              <a:spcAft>
                <a:spcPts val="1600"/>
              </a:spcAft>
            </a:pPr>
            <a:r>
              <a:rPr sz="2000" b="1">
                <a:solidFill>
                  <a:srgbClr val="0F172A"/>
                </a:solidFill>
                <a:latin typeface="Arial"/>
              </a:rPr>
              <a:t>• Problem Statement Title -</a:t>
            </a:r>
            <a:r>
              <a:rPr sz="2000" b="0">
                <a:solidFill>
                  <a:srgbClr val="2563EB"/>
                </a:solidFill>
                <a:latin typeface="Arial"/>
              </a:rPr>
              <a:t> AI-Powered Packaged Commodity Compliance &amp; Inspection System under Legal Metrology Act, 2009</a:t>
            </a:r>
          </a:p>
          <a:p>
            <a:pPr>
              <a:spcAft>
                <a:spcPts val="1600"/>
              </a:spcAft>
            </a:pPr>
            <a:r>
              <a:rPr sz="2000" b="1">
                <a:solidFill>
                  <a:srgbClr val="0F172A"/>
                </a:solidFill>
                <a:latin typeface="Arial"/>
              </a:rPr>
              <a:t>• Theme -</a:t>
            </a:r>
            <a:r>
              <a:rPr sz="2000" b="0">
                <a:solidFill>
                  <a:srgbClr val="2563EB"/>
                </a:solidFill>
                <a:latin typeface="Arial"/>
              </a:rPr>
              <a:t> Smart Automation / GovTech / Consumer Protection</a:t>
            </a:r>
          </a:p>
          <a:p>
            <a:pPr>
              <a:spcAft>
                <a:spcPts val="1600"/>
              </a:spcAft>
            </a:pPr>
            <a:r>
              <a:rPr sz="2000" b="1">
                <a:solidFill>
                  <a:srgbClr val="0F172A"/>
                </a:solidFill>
                <a:latin typeface="Arial"/>
              </a:rPr>
              <a:t>• PS Category -</a:t>
            </a:r>
            <a:r>
              <a:rPr sz="2000" b="0">
                <a:solidFill>
                  <a:srgbClr val="2563EB"/>
                </a:solidFill>
                <a:latin typeface="Arial"/>
              </a:rPr>
              <a:t> Software</a:t>
            </a:r>
          </a:p>
          <a:p>
            <a:pPr>
              <a:spcAft>
                <a:spcPts val="1600"/>
              </a:spcAft>
            </a:pPr>
            <a:r>
              <a:rPr sz="2000" b="1">
                <a:solidFill>
                  <a:srgbClr val="0F172A"/>
                </a:solidFill>
                <a:latin typeface="Arial"/>
              </a:rPr>
              <a:t>• Team ID -</a:t>
            </a:r>
            <a:r>
              <a:rPr sz="2000" b="0">
                <a:solidFill>
                  <a:srgbClr val="2563EB"/>
                </a:solidFill>
                <a:latin typeface="Arial"/>
              </a:rPr>
              <a:t> 32176</a:t>
            </a:r>
          </a:p>
          <a:p>
            <a:pPr>
              <a:spcAft>
                <a:spcPts val="1600"/>
              </a:spcAft>
            </a:pPr>
            <a:r>
              <a:rPr sz="2000" b="1">
                <a:solidFill>
                  <a:srgbClr val="0F172A"/>
                </a:solidFill>
                <a:latin typeface="Arial"/>
              </a:rPr>
              <a:t>• Team Name -</a:t>
            </a:r>
            <a:r>
              <a:rPr sz="2000" b="0">
                <a:solidFill>
                  <a:srgbClr val="2563EB"/>
                </a:solidFill>
                <a:latin typeface="Arial"/>
              </a:rPr>
              <a:t> LegalMetriX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" y="274320"/>
            <a:ext cx="137160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E3A8A"/>
                </a:solidFill>
                <a:latin typeface="Arial"/>
              </a:defRPr>
            </a:pPr>
            <a:r>
              <a:t>LegalMetriX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20240" y="18288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E3A8A"/>
                </a:solidFill>
                <a:latin typeface="Arial"/>
              </a:defRPr>
            </a:pPr>
            <a:r>
              <a:t>LEGALMETRIX – AI-POWERED LEGAL METROLOGY COMPLIANCE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182880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E3A8A"/>
                </a:solidFill>
                <a:latin typeface="Arial"/>
              </a:defRPr>
            </a:pPr>
            <a:r>
              <a:t>SMART INDIA</a:t>
            </a:r>
            <a:br/>
            <a:r>
              <a:t>HACKATHON 2024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6583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E3A8A"/>
                </a:solidFill>
                <a:latin typeface="Arial"/>
              </a:defRPr>
            </a:pPr>
            <a:r>
              <a:t>Proposed Idea / Solution :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Our system 'LegalMetriX' automates end-to-end Legal Metrology inspection, complaint filing, and verification for packaged commodities.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Users can upload photos, multi-panel surface views, or continuous 360° rotation videos for automated statutory audit.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Utilizes dual-pass OCR &amp; Gemini Vision to extract and evaluate all mandatory declarations under Rule 6(1) and Rule 12. Live at: legal-metrology-dist-three.vercel.app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The platform bridges physical ground seizures with digital court-admissible dossiers, case forwarding, and citizen grievance tracking.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400" b="1">
                <a:solidFill>
                  <a:srgbClr val="1E3A8A"/>
                </a:solidFill>
                <a:latin typeface="Arial"/>
              </a:defRPr>
            </a:pPr>
            <a:r>
              <a:t>Innovation and Uniqueness of our Idea :</a:t>
            </a:r>
          </a:p>
          <a:p>
            <a:pPr>
              <a:spcAft>
                <a:spcPts val="300"/>
              </a:spcAft>
            </a:pPr>
            <a:r>
              <a:rPr b="1" sz="1000">
                <a:solidFill>
                  <a:srgbClr val="0F172A"/>
                </a:solidFill>
              </a:rPr>
              <a:t>• 360° Rotational Continuous Video Capture :</a:t>
            </a:r>
            <a:r>
              <a:rPr sz="950">
                <a:solidFill>
                  <a:srgbClr val="1E293B"/>
                </a:solidFill>
              </a:rPr>
              <a:t> Automatically discards motion blur via Laplacian variance and synthesizes orthogonal sharp keyframes.</a:t>
            </a:r>
          </a:p>
          <a:p>
            <a:pPr>
              <a:spcAft>
                <a:spcPts val="300"/>
              </a:spcAft>
            </a:pPr>
            <a:r>
              <a:rPr b="1" sz="1000">
                <a:solidFill>
                  <a:srgbClr val="0F172A"/>
                </a:solidFill>
              </a:rPr>
              <a:t>• Strict Anti-Hallucination Guardrail :</a:t>
            </a:r>
            <a:r>
              <a:rPr sz="950">
                <a:solidFill>
                  <a:srgbClr val="1E293B"/>
                </a:solidFill>
              </a:rPr>
              <a:t> Zero-guessing policy. Smudged or missing text is flagged as 'NEEDS VERIFICATION' rather than false violations.</a:t>
            </a:r>
          </a:p>
          <a:p>
            <a:pPr>
              <a:spcAft>
                <a:spcPts val="300"/>
              </a:spcAft>
            </a:pPr>
            <a:r>
              <a:rPr b="1" sz="1000">
                <a:solidFill>
                  <a:srgbClr val="0F172A"/>
                </a:solidFill>
              </a:rPr>
              <a:t>• Statutory Human-in-the-Loop Digital Seal :</a:t>
            </a:r>
            <a:r>
              <a:rPr sz="950">
                <a:solidFill>
                  <a:srgbClr val="1E293B"/>
                </a:solidFill>
              </a:rPr>
              <a:t> AI outputs assistive cues; only authorized gazetted officers execute legal determinations with cryptographic hash.</a:t>
            </a:r>
          </a:p>
          <a:p>
            <a:pPr>
              <a:spcAft>
                <a:spcPts val="300"/>
              </a:spcAft>
            </a:pPr>
            <a:r>
              <a:rPr b="1" sz="1000">
                <a:solidFill>
                  <a:srgbClr val="0F172A"/>
                </a:solidFill>
              </a:rPr>
              <a:t>• Sanitized Public Citizen Tracking :</a:t>
            </a:r>
            <a:r>
              <a:rPr sz="950">
                <a:solidFill>
                  <a:srgbClr val="1E293B"/>
                </a:solidFill>
              </a:rPr>
              <a:t> Transparent grievance tracking while redacting confidential officer notes and inspection memos.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109728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E3A8A"/>
                </a:solidFill>
                <a:latin typeface="Arial"/>
              </a:defRPr>
            </a:pPr>
            <a:r>
              <a:t>Website Architecture &amp; Enforcement Flow 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554480"/>
            <a:ext cx="4389120" cy="5943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1E3A8A"/>
                </a:solidFill>
              </a:defRPr>
            </a:pPr>
            <a:r>
              <a:t>Package Capture</a:t>
            </a:r>
          </a:p>
          <a:p>
            <a:pPr algn="ctr">
              <a:defRPr sz="800">
                <a:solidFill>
                  <a:srgbClr val="475569"/>
                </a:solidFill>
              </a:defRPr>
            </a:pPr>
            <a:r>
              <a:t>Single Image / 4-Panel / 360° Video Recorder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2286000"/>
            <a:ext cx="4389120" cy="5943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1E3A8A"/>
                </a:solidFill>
              </a:defRPr>
            </a:pPr>
            <a:r>
              <a:t>Keyframe Selector &amp; Filter</a:t>
            </a:r>
          </a:p>
          <a:p>
            <a:pPr algn="ctr">
              <a:defRPr sz="800">
                <a:solidFill>
                  <a:srgbClr val="475569"/>
                </a:solidFill>
              </a:defRPr>
            </a:pPr>
            <a:r>
              <a:t>Laplacian Blur Filter + CLAHE Contrast Enhancement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3017520"/>
            <a:ext cx="4389120" cy="5943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1E3A8A"/>
                </a:solidFill>
              </a:defRPr>
            </a:pPr>
            <a:r>
              <a:t>Dual-Pass OCR &amp; AI Vision</a:t>
            </a:r>
          </a:p>
          <a:p>
            <a:pPr algn="ctr">
              <a:defRPr sz="800">
                <a:solidFill>
                  <a:srgbClr val="475569"/>
                </a:solidFill>
              </a:defRPr>
            </a:pPr>
            <a:r>
              <a:t>PaddleOCR Local Text ROI + Gemini Semantic Parsing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3749039"/>
            <a:ext cx="4389120" cy="5943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1E3A8A"/>
                </a:solidFill>
              </a:defRPr>
            </a:pPr>
            <a:r>
              <a:t>Statutory Rule 6 &amp; 12 Engine</a:t>
            </a:r>
          </a:p>
          <a:p>
            <a:pPr algn="ctr">
              <a:defRPr sz="800">
                <a:solidFill>
                  <a:srgbClr val="475569"/>
                </a:solidFill>
              </a:defRPr>
            </a:pPr>
            <a:r>
              <a:t>MRP, Net Qty, Mfg/Exp Date, Address, Consumer Care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4480560"/>
            <a:ext cx="4389120" cy="5943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1E3A8A"/>
                </a:solidFill>
              </a:defRPr>
            </a:pPr>
            <a:r>
              <a:t>8-Stage Complaint / Enquiry</a:t>
            </a:r>
          </a:p>
          <a:p>
            <a:pPr algn="ctr">
              <a:defRPr sz="800">
                <a:solidFill>
                  <a:srgbClr val="475569"/>
                </a:solidFill>
              </a:defRPr>
            </a:pPr>
            <a:r>
              <a:t>Zonal Escalation, Prosecution &amp; Lab Forwarding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5212080"/>
            <a:ext cx="4389120" cy="5943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1E3A8A"/>
                </a:solidFill>
              </a:defRPr>
            </a:pPr>
            <a:r>
              <a:t>Official Statutory Sign-Off</a:t>
            </a:r>
          </a:p>
          <a:p>
            <a:pPr algn="ctr">
              <a:defRPr sz="800">
                <a:solidFill>
                  <a:srgbClr val="475569"/>
                </a:solidFill>
              </a:defRPr>
            </a:pPr>
            <a:r>
              <a:t>Digital Signature Seal + Tamper-Proof Audit Trail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" y="274320"/>
            <a:ext cx="137160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E3A8A"/>
                </a:solidFill>
                <a:latin typeface="Arial"/>
              </a:defRPr>
            </a:pPr>
            <a:r>
              <a:t>LegalMetriX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20240" y="18288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E3A8A"/>
                </a:solidFill>
                <a:latin typeface="Arial"/>
              </a:defRPr>
            </a:pPr>
            <a:r>
              <a:t>TECHNICAL APPROACH &amp;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182880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E3A8A"/>
                </a:solidFill>
                <a:latin typeface="Arial"/>
              </a:defRPr>
            </a:pPr>
            <a:r>
              <a:t>SMART INDIA</a:t>
            </a:r>
            <a:br/>
            <a:r>
              <a:t>HACKATHON 2024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6217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0F172A"/>
                </a:solidFill>
              </a:rPr>
              <a:t>1. Data Ingestion &amp; Pre-flight Validation:
</a:t>
            </a:r>
            <a:r>
              <a:rPr sz="900">
                <a:solidFill>
                  <a:srgbClr val="1E293B"/>
                </a:solidFill>
              </a:rPr>
              <a:t>• Multi-modal input with client-side quality gate checking resolution, contrast, and brightness.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0F172A"/>
                </a:solidFill>
              </a:rPr>
              <a:t>2. 360° Video Keyframe Extraction:
</a:t>
            </a:r>
            <a:r>
              <a:rPr sz="900">
                <a:solidFill>
                  <a:srgbClr val="1E293B"/>
                </a:solidFill>
              </a:rPr>
              <a:t>• Continuous video sampling with Laplacian variance filtering: Sharpness = Var(Laplacian(I)).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0F172A"/>
                </a:solidFill>
              </a:rPr>
              <a:t>3. Dual-Pass OCR &amp; Semantic Engine:
</a:t>
            </a:r>
            <a:r>
              <a:rPr sz="900">
                <a:solidFill>
                  <a:srgbClr val="1E293B"/>
                </a:solidFill>
              </a:rPr>
              <a:t>• PaddleOCR coordinates + Gemini Vision context to extract Rule 6(1)(a)-(n) declarations.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0F172A"/>
                </a:solidFill>
              </a:rPr>
              <a:t>4. Statutory Rule &amp; Tolerance Engine:
</a:t>
            </a:r>
            <a:r>
              <a:rPr sz="900">
                <a:solidFill>
                  <a:srgbClr val="1E293B"/>
                </a:solidFill>
              </a:rPr>
              <a:t>• Evaluates Maximum Retail Price, metric unit tolerances (Rule 12), and dual MRP sticker overlays.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0F172A"/>
                </a:solidFill>
              </a:rPr>
              <a:t>5. Immutable Audit &amp; 8-Stage Routing:
</a:t>
            </a:r>
            <a:r>
              <a:rPr sz="900">
                <a:solidFill>
                  <a:srgbClr val="1E293B"/>
                </a:solidFill>
              </a:rPr>
              <a:t>• Append-only event log with SHA-256 evidence hashing and zonal case forwarding.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0F172A"/>
                </a:solidFill>
              </a:rPr>
              <a:t>6. Cross-Platform PWA Deployment:
</a:t>
            </a:r>
            <a:r>
              <a:rPr sz="900">
                <a:solidFill>
                  <a:srgbClr val="1E293B"/>
                </a:solidFill>
              </a:rPr>
              <a:t>• React 18 + Vite + Tailwind v4 with IndexedDB offline queue for zero-downtime field auditing.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03520"/>
            <a:ext cx="6217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1E3A8A"/>
                </a:solidFill>
              </a:defRPr>
            </a:pPr>
            <a:r>
              <a:t>TECH STACK 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669280"/>
            <a:ext cx="914400" cy="320040"/>
          </a:xfrm>
          <a:prstGeom prst="round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E3A8A"/>
                </a:solidFill>
              </a:defRPr>
            </a:pPr>
            <a:r>
              <a:t>React 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63040" y="5669280"/>
            <a:ext cx="914400" cy="320040"/>
          </a:xfrm>
          <a:prstGeom prst="round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E3A8A"/>
                </a:solidFill>
              </a:defRPr>
            </a:pPr>
            <a:r>
              <a:t>Vite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03120" y="5669280"/>
            <a:ext cx="914400" cy="320040"/>
          </a:xfrm>
          <a:prstGeom prst="round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E3A8A"/>
                </a:solidFill>
              </a:defRPr>
            </a:pPr>
            <a:r>
              <a:t>TypeScript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5669280"/>
            <a:ext cx="914400" cy="320040"/>
          </a:xfrm>
          <a:prstGeom prst="round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E3A8A"/>
                </a:solidFill>
              </a:defRPr>
            </a:pPr>
            <a:r>
              <a:t>Tailwind v4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5669280"/>
            <a:ext cx="914400" cy="320040"/>
          </a:xfrm>
          <a:prstGeom prst="round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E3A8A"/>
                </a:solidFill>
              </a:defRPr>
            </a:pPr>
            <a:r>
              <a:t>Python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0" y="5669280"/>
            <a:ext cx="914400" cy="320040"/>
          </a:xfrm>
          <a:prstGeom prst="round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E3A8A"/>
                </a:solidFill>
              </a:defRPr>
            </a:pPr>
            <a:r>
              <a:t>PaddleOCR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6080760"/>
            <a:ext cx="1005840" cy="320040"/>
          </a:xfrm>
          <a:prstGeom prst="round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E3A8A"/>
                </a:solidFill>
              </a:defRPr>
            </a:pPr>
            <a:r>
              <a:t>Gemini AI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63040" y="6080760"/>
            <a:ext cx="1005840" cy="320040"/>
          </a:xfrm>
          <a:prstGeom prst="round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E3A8A"/>
                </a:solidFill>
              </a:defRPr>
            </a:pPr>
            <a:r>
              <a:t>FastAPI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77440" y="6080760"/>
            <a:ext cx="1005840" cy="320040"/>
          </a:xfrm>
          <a:prstGeom prst="round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E3A8A"/>
                </a:solidFill>
              </a:defRPr>
            </a:pPr>
            <a:r>
              <a:t>IndexedDB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74720" y="6080760"/>
            <a:ext cx="1005840" cy="320040"/>
          </a:xfrm>
          <a:prstGeom prst="round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E3A8A"/>
                </a:solidFill>
              </a:defRPr>
            </a:pPr>
            <a:r>
              <a:t>PWA Workbox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4880" y="6080760"/>
            <a:ext cx="1005840" cy="320040"/>
          </a:xfrm>
          <a:prstGeom prst="round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E3A8A"/>
                </a:solidFill>
              </a:defRPr>
            </a:pPr>
            <a:r>
              <a:t>Vercel CDN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10058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1E3A8A"/>
                </a:solidFill>
              </a:defRPr>
            </a:pPr>
            <a:r>
              <a:t>Technical Approach Flowchart :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32320" y="1463040"/>
            <a:ext cx="4572000" cy="640080"/>
          </a:xfrm>
          <a:prstGeom prst="rect">
            <a:avLst/>
          </a:prstGeom>
          <a:solidFill>
            <a:srgbClr val="FEF08A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0F172A"/>
                </a:solidFill>
              </a:defRPr>
            </a:pPr>
            <a:r>
              <a:t>Video &amp; Photo Ingestion</a:t>
            </a:r>
          </a:p>
          <a:p>
            <a:pPr algn="ctr">
              <a:defRPr sz="850">
                <a:solidFill>
                  <a:srgbClr val="1E293B"/>
                </a:solidFill>
              </a:defRPr>
            </a:pPr>
            <a:r>
              <a:t>Camera Sensor Binding + EXIF Geolocation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32320" y="2286000"/>
            <a:ext cx="4572000" cy="640080"/>
          </a:xfrm>
          <a:prstGeom prst="rect">
            <a:avLst/>
          </a:prstGeom>
          <a:solidFill>
            <a:srgbClr val="FEF08A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0F172A"/>
                </a:solidFill>
              </a:defRPr>
            </a:pPr>
            <a:r>
              <a:t>Laplacian Variance Filter</a:t>
            </a:r>
          </a:p>
          <a:p>
            <a:pPr algn="ctr">
              <a:defRPr sz="850">
                <a:solidFill>
                  <a:srgbClr val="1E293B"/>
                </a:solidFill>
              </a:defRPr>
            </a:pPr>
            <a:r>
              <a:t>Sharpness &gt; Threshold; Frame Discarding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0" y="3108960"/>
            <a:ext cx="4572000" cy="640080"/>
          </a:xfrm>
          <a:prstGeom prst="rect">
            <a:avLst/>
          </a:prstGeom>
          <a:solidFill>
            <a:srgbClr val="FEF08A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0F172A"/>
                </a:solidFill>
              </a:defRPr>
            </a:pPr>
            <a:r>
              <a:t>PaddleOCR Text Extraction</a:t>
            </a:r>
          </a:p>
          <a:p>
            <a:pPr algn="ctr">
              <a:defRPr sz="850">
                <a:solidFill>
                  <a:srgbClr val="1E293B"/>
                </a:solidFill>
              </a:defRPr>
            </a:pPr>
            <a:r>
              <a:t>Character Detection &amp; Coordinate Bounding Box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32320" y="3931920"/>
            <a:ext cx="4572000" cy="640080"/>
          </a:xfrm>
          <a:prstGeom prst="rect">
            <a:avLst/>
          </a:prstGeom>
          <a:solidFill>
            <a:srgbClr val="FEF08A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0F172A"/>
                </a:solidFill>
              </a:defRPr>
            </a:pPr>
            <a:r>
              <a:t>Gemini Semantic Verification</a:t>
            </a:r>
          </a:p>
          <a:p>
            <a:pPr algn="ctr">
              <a:defRPr sz="850">
                <a:solidFill>
                  <a:srgbClr val="1E293B"/>
                </a:solidFill>
              </a:defRPr>
            </a:pPr>
            <a:r>
              <a:t>Legal Context &amp; Tax Inclusion Evaluation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32320" y="4754880"/>
            <a:ext cx="4572000" cy="640080"/>
          </a:xfrm>
          <a:prstGeom prst="rect">
            <a:avLst/>
          </a:prstGeom>
          <a:solidFill>
            <a:srgbClr val="FEF08A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0F172A"/>
                </a:solidFill>
              </a:defRPr>
            </a:pPr>
            <a:r>
              <a:t>Statutory Rule 6 Checklist</a:t>
            </a:r>
          </a:p>
          <a:p>
            <a:pPr algn="ctr">
              <a:defRPr sz="850">
                <a:solidFill>
                  <a:srgbClr val="1E293B"/>
                </a:solidFill>
              </a:defRPr>
            </a:pPr>
            <a:r>
              <a:t>Rule Code Mapping &amp; Violation Scoring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0" y="5577840"/>
            <a:ext cx="4572000" cy="640080"/>
          </a:xfrm>
          <a:prstGeom prst="rect">
            <a:avLst/>
          </a:prstGeom>
          <a:solidFill>
            <a:srgbClr val="FEF08A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0F172A"/>
                </a:solidFill>
              </a:defRPr>
            </a:pPr>
            <a:r>
              <a:t>PDF Dossier &amp; Audit Hash</a:t>
            </a:r>
          </a:p>
          <a:p>
            <a:pPr algn="ctr">
              <a:defRPr sz="850">
                <a:solidFill>
                  <a:srgbClr val="1E293B"/>
                </a:solidFill>
              </a:defRPr>
            </a:pPr>
            <a:r>
              <a:t>Digital Seal Generation (SEAL-LM-DIR-XXXX)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" y="274320"/>
            <a:ext cx="137160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E3A8A"/>
                </a:solidFill>
                <a:latin typeface="Arial"/>
              </a:defRPr>
            </a:pPr>
            <a:r>
              <a:t>LegalMetriX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20240" y="18288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E3A8A"/>
                </a:solidFill>
                <a:latin typeface="Arial"/>
              </a:defRPr>
            </a:pPr>
            <a:r>
              <a:t>FEASIBILITY AND VIABILITY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182880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E3A8A"/>
                </a:solidFill>
                <a:latin typeface="Arial"/>
              </a:defRPr>
            </a:pPr>
            <a:r>
              <a:t>SMART INDIA</a:t>
            </a:r>
            <a:br/>
            <a:r>
              <a:t>HACKATHON 2024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62179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300">
                <a:solidFill>
                  <a:srgbClr val="1E3A8A"/>
                </a:solidFill>
              </a:defRPr>
            </a:pPr>
            <a:r>
              <a:t>Feasibility :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0F172A"/>
                </a:solidFill>
              </a:rPr>
              <a:t>Technical Feasibility :</a:t>
            </a:r>
            <a:r>
              <a:rPr sz="900">
                <a:solidFill>
                  <a:srgbClr val="1E293B"/>
                </a:solidFill>
              </a:rPr>
              <a:t> Leverages proven open-source computer vision (PaddleOCR) and Gemini 1.5 API.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0F172A"/>
                </a:solidFill>
              </a:rPr>
              <a:t>Data Availability :</a:t>
            </a:r>
            <a:r>
              <a:rPr sz="900">
                <a:solidFill>
                  <a:srgbClr val="1E293B"/>
                </a:solidFill>
              </a:rPr>
              <a:t> Uses packaging standards mandated under Rule 6(1) &amp; Schedule 2 of PCR 2011.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0F172A"/>
                </a:solidFill>
              </a:rPr>
              <a:t>Real-time Performance :</a:t>
            </a:r>
            <a:r>
              <a:rPr sz="900">
                <a:solidFill>
                  <a:srgbClr val="1E293B"/>
                </a:solidFill>
              </a:rPr>
              <a:t> Client-side compression (&lt;250ms) + cloud inference (&lt;2.4s) delivers real-time speed.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b="1" sz="1300">
                <a:solidFill>
                  <a:srgbClr val="1E3A8A"/>
                </a:solidFill>
              </a:defRPr>
            </a:pPr>
            <a:r>
              <a:t>Viability :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• Scalable across all 28 States &amp; 8 UTs Weights &amp; Measures Departments.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• Zero hardware dependency — runs seamlessly on standard smartphones carried by inspectors.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• Reduces manual docket recording time by 95% (from 10 mins to 2.4s per commodity sample).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b="1" sz="1300">
                <a:solidFill>
                  <a:srgbClr val="1E3A8A"/>
                </a:solidFill>
              </a:defRPr>
            </a:pPr>
            <a:r>
              <a:t>Potential Risks &amp; Mitigation :</a:t>
            </a:r>
          </a:p>
          <a:p>
            <a:pPr>
              <a:spcAft>
                <a:spcPts val="200"/>
              </a:spcAft>
            </a:pPr>
            <a:r>
              <a:rPr b="1" sz="900">
                <a:solidFill>
                  <a:srgbClr val="991B1B"/>
                </a:solidFill>
              </a:rPr>
              <a:t>Risk 1 : </a:t>
            </a:r>
            <a:r>
              <a:rPr sz="850">
                <a:solidFill>
                  <a:srgbClr val="1E293B"/>
                </a:solidFill>
              </a:rPr>
              <a:t> Motion blur &amp; glare on glossy wrappers causes missing text.
</a:t>
            </a:r>
            <a:r>
              <a:rPr b="1" sz="900">
                <a:solidFill>
                  <a:srgbClr val="166534"/>
                </a:solidFill>
              </a:rPr>
              <a:t>Solution : </a:t>
            </a:r>
            <a:r>
              <a:rPr sz="850">
                <a:solidFill>
                  <a:srgbClr val="1E293B"/>
                </a:solidFill>
              </a:rPr>
              <a:t> Laplacian variance filter discards blurry frames; CLAHE balances reflection.</a:t>
            </a:r>
          </a:p>
          <a:p>
            <a:pPr>
              <a:spcAft>
                <a:spcPts val="200"/>
              </a:spcAft>
            </a:pPr>
            <a:r>
              <a:rPr b="1" sz="900">
                <a:solidFill>
                  <a:srgbClr val="991B1B"/>
                </a:solidFill>
              </a:rPr>
              <a:t>Risk 2 : </a:t>
            </a:r>
            <a:r>
              <a:rPr sz="850">
                <a:solidFill>
                  <a:srgbClr val="1E293B"/>
                </a:solidFill>
              </a:rPr>
              <a:t> AI hallucination leading to false legal notices.
</a:t>
            </a:r>
            <a:r>
              <a:rPr b="1" sz="900">
                <a:solidFill>
                  <a:srgbClr val="166534"/>
                </a:solidFill>
              </a:rPr>
              <a:t>Solution : </a:t>
            </a:r>
            <a:r>
              <a:rPr sz="850">
                <a:solidFill>
                  <a:srgbClr val="1E293B"/>
                </a:solidFill>
              </a:rPr>
              <a:t> AI outputs assistive cues only; statutory actions require gazetted officer digital seal.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0" y="10058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1E3A8A"/>
                </a:solidFill>
              </a:defRPr>
            </a:pPr>
            <a:r>
              <a:t>Use Case Architecture Diagram 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463040"/>
            <a:ext cx="4572000" cy="105156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50">
                <a:solidFill>
                  <a:srgbClr val="1E3A8A"/>
                </a:solidFill>
              </a:defRPr>
            </a:pPr>
            <a:r>
              <a:t>👤 Actor: Field Inspector</a:t>
            </a:r>
          </a:p>
          <a:p>
            <a:pPr>
              <a:spcBef>
                <a:spcPts val="200"/>
              </a:spcBef>
              <a:defRPr sz="850">
                <a:solidFill>
                  <a:srgbClr val="1E293B"/>
                </a:solidFill>
              </a:defRPr>
            </a:pPr>
            <a:r>
              <a:t>Capture 360°/Multi-Surface Scans</a:t>
            </a:r>
            <a:br/>
            <a:r>
              <a:t>Log Market Seizure Location</a:t>
            </a:r>
            <a:br/>
            <a:r>
              <a:t>Initiate Complaint Docket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0" y="2743200"/>
            <a:ext cx="4572000" cy="1051560"/>
          </a:xfrm>
          <a:prstGeom prst="roundRect">
            <a:avLst/>
          </a:prstGeom>
          <a:solidFill>
            <a:srgbClr val="FEF08A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50">
                <a:solidFill>
                  <a:srgbClr val="1E3A8A"/>
                </a:solidFill>
              </a:defRPr>
            </a:pPr>
            <a:r>
              <a:t>👤 Actor: LegalMetriX AI Engine</a:t>
            </a:r>
          </a:p>
          <a:p>
            <a:pPr>
              <a:spcBef>
                <a:spcPts val="200"/>
              </a:spcBef>
              <a:defRPr sz="850">
                <a:solidFill>
                  <a:srgbClr val="1E293B"/>
                </a:solidFill>
              </a:defRPr>
            </a:pPr>
            <a:r>
              <a:t>Laplacian Keyframe Fusion</a:t>
            </a:r>
            <a:br/>
            <a:r>
              <a:t>PaddleOCR + Gemini Dual-Pass</a:t>
            </a:r>
            <a:br/>
            <a:r>
              <a:t>Rule 6 &amp; Rule 12 Validation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4023360"/>
            <a:ext cx="4572000" cy="105156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50">
                <a:solidFill>
                  <a:srgbClr val="1E3A8A"/>
                </a:solidFill>
              </a:defRPr>
            </a:pPr>
            <a:r>
              <a:t>👤 Actor: Senior Official (DCLM)</a:t>
            </a:r>
          </a:p>
          <a:p>
            <a:pPr>
              <a:spcBef>
                <a:spcPts val="200"/>
              </a:spcBef>
              <a:defRPr sz="850">
                <a:solidFill>
                  <a:srgbClr val="1E293B"/>
                </a:solidFill>
              </a:defRPr>
            </a:pPr>
            <a:r>
              <a:t>Inter-Departmental Case Forwarding</a:t>
            </a:r>
            <a:br/>
            <a:r>
              <a:t>Statutory Verification &amp; Notice</a:t>
            </a:r>
            <a:br/>
            <a:r>
              <a:t>Digital Signature Seal Hash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0" y="5303520"/>
            <a:ext cx="4572000" cy="1051560"/>
          </a:xfrm>
          <a:prstGeom prst="roundRect">
            <a:avLst/>
          </a:prstGeom>
          <a:solidFill>
            <a:srgbClr val="F3E8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50">
                <a:solidFill>
                  <a:srgbClr val="1E3A8A"/>
                </a:solidFill>
              </a:defRPr>
            </a:pPr>
            <a:r>
              <a:t>👤 Actor: Public Citizen / Consumer</a:t>
            </a:r>
          </a:p>
          <a:p>
            <a:pPr>
              <a:spcBef>
                <a:spcPts val="200"/>
              </a:spcBef>
              <a:defRPr sz="850">
                <a:solidFill>
                  <a:srgbClr val="1E293B"/>
                </a:solidFill>
              </a:defRPr>
            </a:pPr>
            <a:r>
              <a:t>Grievance Filing &amp; Search</a:t>
            </a:r>
            <a:br/>
            <a:r>
              <a:t>Sanitized Milestone Tracking</a:t>
            </a:r>
            <a:br/>
            <a:r>
              <a:t>Redacted Investigation Timeline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" y="274320"/>
            <a:ext cx="137160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E3A8A"/>
                </a:solidFill>
                <a:latin typeface="Arial"/>
              </a:defRPr>
            </a:pPr>
            <a:r>
              <a:t>LegalMetriX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20240" y="18288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E3A8A"/>
                </a:solidFill>
                <a:latin typeface="Arial"/>
              </a:defRPr>
            </a:pPr>
            <a:r>
              <a:t>IMPACT AND BENEFITS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182880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E3A8A"/>
                </a:solidFill>
                <a:latin typeface="Arial"/>
              </a:defRPr>
            </a:pPr>
            <a:r>
              <a:t>SMART INDIA</a:t>
            </a:r>
            <a:br/>
            <a:r>
              <a:t>HACKATHON 2024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62179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300">
                <a:solidFill>
                  <a:srgbClr val="1E3A8A"/>
                </a:solidFill>
              </a:defRPr>
            </a:pPr>
            <a:r>
              <a:t>Impacts :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• 100% Elimination of Paper Inspection Dockets across district enforcement.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• Drastic reduction in retail Dual MRP frauds and deceptive packaging.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• Protection of consumer rights under Consumer Protection Act &amp; Legal Metrology Act.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• Standardized enforcement across state borders with unified cloud repository.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b="1" sz="1300">
                <a:solidFill>
                  <a:srgbClr val="1E3A8A"/>
                </a:solidFill>
              </a:defRPr>
            </a:pPr>
            <a:r>
              <a:t>Benefits :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• Real-Time Field Seizure Recording with GPS timestamping.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• Instant Court-Ready PDF Inspection Dossiers with evidence coordinate bounding boxes.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• Inter-Departmental Case Forwarding to Laboratory and Legal Directorates.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• Zero-Downtime Offline Functionality in remote rural mandis.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97680"/>
            <a:ext cx="6217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1E3A8A"/>
                </a:solidFill>
              </a:defRPr>
            </a:pPr>
            <a:r>
              <a:t>Performance &amp; Efficiency Benchmarks :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4663440"/>
          <a:ext cx="62179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920240"/>
                <a:gridCol w="1920240"/>
              </a:tblGrid>
              <a:tr h="41148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Metric / Parameter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Manual Inspection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LegalMetriX AI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Audit Time per Commodity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8 – 10 Minutes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1.8 – 2.4 Seconds (95% Faster)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Evidence Bounding Box ROI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Manual Photo Markup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Automated Coordinate Extraction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Chain of Custody &amp; Security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Paper Form-1 Risk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SHA-256 Hash + Audit Trail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132320" y="10058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1E3A8A"/>
                </a:solidFill>
              </a:defRPr>
            </a:pPr>
            <a:r>
              <a:t>AI Model Accuracy &amp; Reliability Metrics 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1463040"/>
            <a:ext cx="4572000" cy="1097280"/>
          </a:xfrm>
          <a:prstGeom prst="roundRect">
            <a:avLst/>
          </a:prstGeom>
          <a:solidFill>
            <a:srgbClr val="DCFCE7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1E3A8A"/>
                </a:solidFill>
              </a:defRPr>
            </a:pPr>
            <a:r>
              <a:t>98.4% — OCR Character Precision</a:t>
            </a:r>
          </a:p>
          <a:p>
            <a:pPr>
              <a:spcBef>
                <a:spcPts val="300"/>
              </a:spcBef>
              <a:defRPr sz="850">
                <a:solidFill>
                  <a:srgbClr val="1E293B"/>
                </a:solidFill>
              </a:defRPr>
            </a:pPr>
            <a:r>
              <a:t>Evaluated across printed English and Hindi Devanagari text panels.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0" y="2697480"/>
            <a:ext cx="4572000" cy="1097280"/>
          </a:xfrm>
          <a:prstGeom prst="roundRect">
            <a:avLst/>
          </a:prstGeom>
          <a:solidFill>
            <a:srgbClr val="DBEAFE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1E3A8A"/>
                </a:solidFill>
              </a:defRPr>
            </a:pPr>
            <a:r>
              <a:t>100% — Rule 6 &amp; 12 Compliance Coverage</a:t>
            </a:r>
          </a:p>
          <a:p>
            <a:pPr>
              <a:spcBef>
                <a:spcPts val="300"/>
              </a:spcBef>
              <a:defRPr sz="850">
                <a:solidFill>
                  <a:srgbClr val="1E293B"/>
                </a:solidFill>
              </a:defRPr>
            </a:pPr>
            <a:r>
              <a:t>Full rule evaluation across MRP, Net Quantity, Mfg Date, Expiry, Address, and Care.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0" y="3931920"/>
            <a:ext cx="4572000" cy="1097280"/>
          </a:xfrm>
          <a:prstGeom prst="roundRect">
            <a:avLst/>
          </a:prstGeom>
          <a:solidFill>
            <a:srgbClr val="FEF08A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1E3A8A"/>
                </a:solidFill>
              </a:defRPr>
            </a:pPr>
            <a:r>
              <a:t>&lt; 2.4s — Average Pipeline Latency</a:t>
            </a:r>
          </a:p>
          <a:p>
            <a:pPr>
              <a:spcBef>
                <a:spcPts val="300"/>
              </a:spcBef>
              <a:defRPr sz="850">
                <a:solidFill>
                  <a:srgbClr val="1E293B"/>
                </a:solidFill>
              </a:defRPr>
            </a:pPr>
            <a:r>
              <a:t>Client compression + dual-pass OCR + AI semantic verification.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0" y="5166360"/>
            <a:ext cx="4572000" cy="1097280"/>
          </a:xfrm>
          <a:prstGeom prst="roundRect">
            <a:avLst/>
          </a:prstGeom>
          <a:solidFill>
            <a:srgbClr val="F3E8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1E3A8A"/>
                </a:solidFill>
              </a:defRPr>
            </a:pPr>
            <a:r>
              <a:t>100% — Offline Synchronization Success</a:t>
            </a:r>
          </a:p>
          <a:p>
            <a:pPr>
              <a:spcBef>
                <a:spcPts val="300"/>
              </a:spcBef>
              <a:defRPr sz="850">
                <a:solidFill>
                  <a:srgbClr val="1E293B"/>
                </a:solidFill>
              </a:defRPr>
            </a:pPr>
            <a:r>
              <a:t>IndexedDB background queue guarantees zero loss of market inspection records.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" y="274320"/>
            <a:ext cx="137160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E3A8A"/>
                </a:solidFill>
                <a:latin typeface="Arial"/>
              </a:defRPr>
            </a:pPr>
            <a:r>
              <a:t>LegalMetriX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20240" y="18288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E3A8A"/>
                </a:solidFill>
                <a:latin typeface="Arial"/>
              </a:defRPr>
            </a:pPr>
            <a:r>
              <a:t>RESEARCH AND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182880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E3A8A"/>
                </a:solidFill>
                <a:latin typeface="Arial"/>
              </a:defRPr>
            </a:pPr>
            <a:r>
              <a:t>SMART INDIA</a:t>
            </a:r>
            <a:br/>
            <a:r>
              <a:t>HACKATHON 2024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5486400" cy="2560320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b="1" sz="1000">
                <a:solidFill>
                  <a:srgbClr val="1E3A8A"/>
                </a:solidFill>
              </a:defRPr>
            </a:pPr>
            <a:r>
              <a:t>Academic Research &amp; Computer Vision Models :</a:t>
            </a:r>
          </a:p>
          <a:p>
            <a:pPr>
              <a:spcAft>
                <a:spcPts val="300"/>
              </a:spcAft>
              <a:defRPr sz="850">
                <a:solidFill>
                  <a:srgbClr val="1E293B"/>
                </a:solidFill>
              </a:defRPr>
            </a:pPr>
            <a:r>
              <a:t>1. 'Deep Learning Approaches for Text Localization in Complex Packaging' — IEEE Access, 2023.</a:t>
            </a:r>
          </a:p>
          <a:p>
            <a:pPr>
              <a:spcAft>
                <a:spcPts val="300"/>
              </a:spcAft>
              <a:defRPr sz="850">
                <a:solidFill>
                  <a:srgbClr val="1E293B"/>
                </a:solidFill>
              </a:defRPr>
            </a:pPr>
            <a:r>
              <a:t>2. 'Laplacian Variance Metric for Real-Time Video Blur Detection' — Computer Vision Journal, 2022.</a:t>
            </a:r>
          </a:p>
          <a:p>
            <a:pPr>
              <a:spcAft>
                <a:spcPts val="300"/>
              </a:spcAft>
              <a:defRPr sz="850">
                <a:solidFill>
                  <a:srgbClr val="1E293B"/>
                </a:solidFill>
              </a:defRPr>
            </a:pPr>
            <a:r>
              <a:t>3. 'Multi-Surface Keyframe Fusion in Continuous Video Rotation' — Pattern Recognition Letters, 2024.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005840"/>
            <a:ext cx="5486400" cy="2560320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b="1" sz="1000">
                <a:solidFill>
                  <a:srgbClr val="1E3A8A"/>
                </a:solidFill>
              </a:defRPr>
            </a:pPr>
            <a:r>
              <a:t>Statutory Acts &amp; Regulatory Standards :</a:t>
            </a:r>
          </a:p>
          <a:p>
            <a:pPr>
              <a:spcAft>
                <a:spcPts val="300"/>
              </a:spcAft>
              <a:defRPr sz="850">
                <a:solidFill>
                  <a:srgbClr val="1E293B"/>
                </a:solidFill>
              </a:defRPr>
            </a:pPr>
            <a:r>
              <a:t>1. Legal Metrology Act, 2009 (Act No. 1 of 2010), Ministry of Consumer Affairs, Govt. of India.</a:t>
            </a:r>
          </a:p>
          <a:p>
            <a:pPr>
              <a:spcAft>
                <a:spcPts val="300"/>
              </a:spcAft>
              <a:defRPr sz="850">
                <a:solidFill>
                  <a:srgbClr val="1E293B"/>
                </a:solidFill>
              </a:defRPr>
            </a:pPr>
            <a:r>
              <a:t>2. Legal Metrology (Packaged Commodities) Rules, 2011 &amp; Amendments (2017, 2021, 2022).</a:t>
            </a:r>
          </a:p>
          <a:p>
            <a:pPr>
              <a:spcAft>
                <a:spcPts val="300"/>
              </a:spcAft>
              <a:defRPr sz="850">
                <a:solidFill>
                  <a:srgbClr val="1E293B"/>
                </a:solidFill>
              </a:defRPr>
            </a:pPr>
            <a:r>
              <a:t>3. Unit Sale Price (USP) Guidelines &amp; Dual MRP Enforcement Directives (Section 18 &amp; 36).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840480"/>
            <a:ext cx="5486400" cy="2560320"/>
          </a:xfrm>
          <a:prstGeom prst="rect">
            <a:avLst/>
          </a:prstGeom>
          <a:solidFill>
            <a:srgbClr val="FEF08A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b="1" sz="1000">
                <a:solidFill>
                  <a:srgbClr val="1E3A8A"/>
                </a:solidFill>
              </a:defRPr>
            </a:pPr>
            <a:r>
              <a:t>Live Project Deliverables &amp; Links :</a:t>
            </a:r>
          </a:p>
          <a:p>
            <a:pPr>
              <a:spcAft>
                <a:spcPts val="300"/>
              </a:spcAft>
              <a:defRPr sz="850">
                <a:solidFill>
                  <a:srgbClr val="1E293B"/>
                </a:solidFill>
              </a:defRPr>
            </a:pPr>
            <a:r>
              <a:t>1. Live Web Platform: https://legal-metrology-dist-three.vercel.app/</a:t>
            </a:r>
          </a:p>
          <a:p>
            <a:pPr>
              <a:spcAft>
                <a:spcPts val="300"/>
              </a:spcAft>
              <a:defRPr sz="850">
                <a:solidFill>
                  <a:srgbClr val="1E293B"/>
                </a:solidFill>
              </a:defRPr>
            </a:pPr>
            <a:r>
              <a:t>2. Platform Specification Manual: /LegalMetriX_Platform_Documentation.pdf</a:t>
            </a:r>
          </a:p>
          <a:p>
            <a:pPr>
              <a:spcAft>
                <a:spcPts val="300"/>
              </a:spcAft>
              <a:defRPr sz="850">
                <a:solidFill>
                  <a:srgbClr val="1E293B"/>
                </a:solidFill>
              </a:defRPr>
            </a:pPr>
            <a:r>
              <a:t>3. Judges Q&amp;A Defense Manual: /SIH_Hackathon_Judges_QA_Defense_Manual.pdf</a:t>
            </a:r>
          </a:p>
          <a:p>
            <a:pPr>
              <a:spcAft>
                <a:spcPts val="300"/>
              </a:spcAft>
              <a:defRPr sz="850">
                <a:solidFill>
                  <a:srgbClr val="1E293B"/>
                </a:solidFill>
              </a:defRPr>
            </a:pPr>
            <a:r>
              <a:t>4. GitHub Repository: github.com/bathulayashwanth6840-cmd/legal-metrology-dist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3840480"/>
            <a:ext cx="5486400" cy="2560320"/>
          </a:xfrm>
          <a:prstGeom prst="rect">
            <a:avLst/>
          </a:prstGeom>
          <a:solidFill>
            <a:srgbClr val="FEF08A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b="1" sz="1000">
                <a:solidFill>
                  <a:srgbClr val="1E3A8A"/>
                </a:solidFill>
              </a:defRPr>
            </a:pPr>
            <a:r>
              <a:t>Government Integration &amp; Reference Standards :</a:t>
            </a:r>
          </a:p>
          <a:p>
            <a:pPr>
              <a:spcAft>
                <a:spcPts val="300"/>
              </a:spcAft>
              <a:defRPr sz="850">
                <a:solidFill>
                  <a:srgbClr val="1E293B"/>
                </a:solidFill>
              </a:defRPr>
            </a:pPr>
            <a:r>
              <a:t>1. INGRAM (National Consumer Helpline NCH 1915 / consumerhelpline.gov.in).</a:t>
            </a:r>
          </a:p>
          <a:p>
            <a:pPr>
              <a:spcAft>
                <a:spcPts val="300"/>
              </a:spcAft>
              <a:defRPr sz="850">
                <a:solidFill>
                  <a:srgbClr val="1E293B"/>
                </a:solidFill>
              </a:defRPr>
            </a:pPr>
            <a:r>
              <a:t>2. FSSAI License &amp; Food Safety Standards Act (Section 31 Verification Registry).</a:t>
            </a:r>
          </a:p>
          <a:p>
            <a:pPr>
              <a:spcAft>
                <a:spcPts val="300"/>
              </a:spcAft>
              <a:defRPr sz="850">
                <a:solidFill>
                  <a:srgbClr val="1E293B"/>
                </a:solidFill>
              </a:defRPr>
            </a:pPr>
            <a:r>
              <a:t>3. Bureau of Indian Standards (BIS) IS 10001 Standard Packaged Quantities.</a:t>
            </a:r>
          </a:p>
          <a:p>
            <a:pPr>
              <a:spcAft>
                <a:spcPts val="300"/>
              </a:spcAft>
              <a:defRPr sz="850">
                <a:solidFill>
                  <a:srgbClr val="1E293B"/>
                </a:solidFill>
              </a:defRPr>
            </a:pPr>
            <a:r>
              <a:t>4. e-Daakhil Consumer Court Grievance Filing Integration.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