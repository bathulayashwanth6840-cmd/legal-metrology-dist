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officeDocument/2006/presentationml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officeDocument/2006/presentationml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officeDocument/2006/presentationml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officeDocument/2006/presentationml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Slide Title & Subtitle -->
      <p:sp>
        <p:nvSpPr>
          <p:cNvPr id="2" name="Title Box"/>
          <p:cNvSpPr/>
          <p:nvPr/>
        </p:nvSpPr>
        <p:spPr>
          <a:xfrm>
            <a:off x="750000" y="600000"/>
            <a:ext cx="10692000" cy="1800000"/>
          </a:xfrm>
          <a:prstGeom prst="rect">
            <a:avLst/>
          </a:prstGeom>
          <a:noFill/>
        </p:spPr>
        <p:txBody>
          <a:bodyPr lIns="0" tIns="0" rIns="0" bIns="0" wrap="square"/>
          <a:lstStyle/>
          <a:p>
            <a:r>
              <a:rPr lang="en-US" sz="3200" b="1">
                <a:solidFill>
                  <a:srgbClr val="FFFFFF"/>
                </a:solidFill>
              </a:rPr>
              <a:t>LegalMetriX — AI Packaging Compliance Suite</a:t>
            </a:r>
          </a:p>
          <a:p>
            <a:pPr spaceBefore="80000"/>
            <a:r>
              <a:rPr lang="en-US" sz="1600" b="1">
                <a:solidFill>
                  <a:srgbClr val="93C5FD"/>
                </a:solidFill>
              </a:rPr>
              <a:t>Smart India Hackathon 2024 • Ministry of Consumer Affairs</a:t>
            </a:r>
          </a:p>
        </p:txBody>
      </p:sp>
      <!-- Content Cards -->
      <p:sp>
        <p:nvSpPr>
          <p:cNvPr id="10" name="Box 1"/>
          <p:cNvSpPr/>
          <p:nvPr/>
        </p:nvSpPr>
        <p:spPr>
          <a:xfrm>
            <a:off x="7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1E40AF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360° Single-Clip Scan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Autonomous continuous video recording with Laplacian blur filtering.</a:t>
            </a:r>
          </a:p>
        </p:txBody>
      </p:sp>
      <p:sp>
        <p:nvSpPr>
          <p:cNvPr id="11" name="Box 2"/>
          <p:cNvSpPr/>
          <p:nvPr/>
        </p:nvSpPr>
        <p:spPr>
          <a:xfrm>
            <a:off x="45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Statutory 100-Point Engine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Evaluates mandatory declarations under Legal Metrology Rules, 2011.</a:t>
            </a:r>
          </a:p>
        </p:txBody>
      </p:sp>
      <p:sp>
        <p:nvSpPr>
          <p:cNvPr id="12" name="Box 3"/>
          <p:cNvSpPr/>
          <p:nvPr/>
        </p:nvSpPr>
        <p:spPr>
          <a:xfrm>
            <a:off x="83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Live Cloud Platform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Fullstack FastAPI + React PWA live at legal-metrology-dist-three.vercel.app</a:t>
            </a:r>
          </a:p>
        </p:txBody>
      </p:sp>
      <!-- Footer Bar -->
      <p:sp>
        <p:nvSpPr>
          <p:cNvPr id="99" name="Footer"/>
          <p:cNvSpPr/>
          <p:nvPr/>
        </p:nvSpPr>
        <p:spPr>
          <a:xfrm>
            <a:off x="750000" y="6100000"/>
            <a:ext cx="10692000" cy="400000"/>
          </a:xfrm>
          <a:prstGeom prst="rect">
            <a:avLst/>
          </a:prstGeom>
          <a:noFill/>
        </p:spPr>
        <p:txBody>
          <a:bodyPr lIns="0" tIns="0" rIns="0" bIns="0" wrap="square"/>
          <a:lstStyle/>
          <a:p>
            <a:r>
              <a:rPr lang="en-US" sz="1100">
                <a:solidFill>
                  <a:srgbClr val="64748B"/>
                </a:solidFill>
              </a:rPr>
              <a:t>LegalMetriX • Smart India Hackathon (SIH 2024) • Slide 1 / 10</a:t>
            </a:r>
          </a:p>
        </p:txBody>
      </p:sp>
    </p:spTree>
  </p:cSld>
</p:sld>
</file>

<file path=ppt/slides/slide2.xml><?xml version="1.0" encoding="UTF-8" standalone="yes"?>
<p:sld xmlns:a="http://schemas.openxmlformats.org/drawingml/2006/main" xmlns:r="http://schemas.openxmlformats.org/officeDocument/2006/relationships" xmlns:p="http://schemas.openxmlformats.org/officeDocument/2006/presentationml">
  <p:cSld>
    <p:bg>
      <p:bgPr>
        <a:solidFill><a:srgbClr val="0F172A"/></a:solidFill>
      </p:bgPr>
    </p:bg>
    <p:spTree>
      <p:nvGrpSpPr>
        <p:cNvPr id="1" name=""/>
        <p:cNvGrpSpPr/>
        <p:nvPr/>
      </p:nvGrpSpPr>
      <p:grpSpPr>
        <a:xfrm><a:off x="0" y="0"/><a:ext cx="0" cy="0"/><a:chOff x="0" y="0"/><a:chExt cx="0" cy="0"/></a:xfrm>
      </p:grpSpPr>
      
      <!-- Slide Title & Subtitle -->
      <p:sp>
        <p:nvSpPr>
          <p:cNvPr id="2" name="Title Box"/>
          <p:cNvSpPr/>
          <p:nvPr/>
        </p:nvSpPr>
        <p:spPr>
          <a:xfrm><a:off x="750000" y="600000"/><a:ext cx="10692000" cy="18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3200" b="1">
                <a:solidFill><a:srgbClr val="FFFFFF"/></a:solidFill>
              </a:rPr>
              <a:t>The Problem: Regulatory Enforcement Challenges</a:t>
            </a:r>
          </a:p>
          <a:p>
            <a:pPr spaceBefore="80000"/>
            <a:r>
              <a:rPr lang="en-US" sz="1600" b="1">
                <a:solidFill><a:srgbClr val="93C5FD"/></a:solidFill>
              </a:rPr>
              <a:t>Why manual inspection fails across modern retail & e-commerce</a:t>
            </a:r>
          </a:p>
        </p:txBody>
      </p:sp>

      <!-- Content Cards -->
      
      <p:sp>
        <p:nvSpPr>
          <p:cNvPr id="10" name="Box 1"/>
          <p:cNvSpPr/>
          <p:nvPr/>
        </p:nvSpPr>
        <p:spPr>
          <a:xfrm>
            <a:off x="7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E40AF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Severe Officer Shortage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Over 100 Crore+ packaged products enter retail daily vs limited field staff.</a:t>
            </a:r>
          </a:p>
        </p:txBody>
      </p:sp>
      <p:sp>
        <p:nvSpPr>
          <p:cNvPr id="11" name="Box 2"/>
          <p:cNvSpPr/>
          <p:nvPr/>
        </p:nvSpPr>
        <p:spPr>
          <a:xfrm>
            <a:off x="45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F59E0B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Multi-Surface Blindspots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Mandatory declarations are scattered across Front, Back, Left & Right panels.</a:t>
            </a:r>
          </a:p>
        </p:txBody>
      </p:sp>
      <p:sp>
        <p:nvSpPr>
          <p:cNvPr id="12" name="Box 3"/>
          <p:cNvSpPr/>
          <p:nvPr/>
        </p:nvSpPr>
        <p:spPr>
          <a:xfrm>
            <a:off x="83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0B981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Black-Box AI Limitations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Traditional OCR tools lack coordinate evidence and legal citation transparency.</a:t>
            </a:r>
          </a:p>
        </p:txBody>
      </p:sp>

      <!-- Footer Bar -->
      <p:sp>
        <p:nvSpPr>
          <p:cNvPr id="99" name="Footer"/>
          <p:cNvSpPr/>
          <p:nvPr/>
        </p:nvSpPr>
        <p:spPr>
          <a:xfrm><a:off x="750000" y="6100000"/><a:ext cx="10692000" cy="4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1100">
                <a:solidFill><a:srgbClr val="64748B"/></a:solidFill>
              </a:rPr>
              <a:t>LegalMetriX • Smart India Hackathon (SIH 2024) • Slide 2 / 10</a:t>
            </a:r>
          </a:p>
        </p:txBody>
      </p:sp>
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officeDocument/2006/presentationml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Slide Title & Subtitle -->
      <p:sp>
        <p:nvSpPr>
          <p:cNvPr id="2" name="Title Box"/>
          <p:cNvSpPr/>
          <p:nvPr/>
        </p:nvSpPr>
        <p:spPr>
          <a:xfrm>
            <a:off x="750000" y="600000"/>
            <a:ext cx="10692000" cy="1800000"/>
          </a:xfrm>
          <a:prstGeom prst="rect">
            <a:avLst/>
          </a:prstGeom>
          <a:noFill/>
        </p:spPr>
        <p:txBody>
          <a:bodyPr lIns="0" tIns="0" rIns="0" bIns="0" wrap="square"/>
          <a:lstStyle/>
          <a:p>
            <a:r>
              <a:rPr lang="en-US" sz="3200" b="1">
                <a:solidFill>
                  <a:srgbClr val="FFFFFF"/>
                </a:solidFill>
              </a:rPr>
              <a:t>Our Solution: LegalMetriX AI Platform</a:t>
            </a:r>
          </a:p>
          <a:p>
            <a:pPr spaceBefore="80000"/>
            <a:r>
              <a:rPr lang="en-US" sz="1600" b="1">
                <a:solidFill>
                  <a:srgbClr val="93C5FD"/>
                </a:solidFill>
              </a:rPr>
              <a:t>End-to-End Autonomous Regulatory Compliance Pipeline</a:t>
            </a:r>
          </a:p>
        </p:txBody>
      </p:sp>
      <!-- Content Cards -->
      <p:sp>
        <p:nvSpPr>
          <p:cNvPr id="10" name="Box 1"/>
          <p:cNvSpPr/>
          <p:nvPr/>
        </p:nvSpPr>
        <p:spPr>
          <a:xfrm>
            <a:off x="7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1E40AF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360° Continuous Video Scan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One-pass recording with live angular HUD guidance and blur elimination.</a:t>
            </a:r>
          </a:p>
        </p:txBody>
      </p:sp>
      <p:sp>
        <p:nvSpPr>
          <p:cNvPr id="11" name="Box 2"/>
          <p:cNvSpPr/>
          <p:nvPr/>
        </p:nvSpPr>
        <p:spPr>
          <a:xfrm>
            <a:off x="45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Multimodal Evidence Fusion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PaddleOCR + Gemini Vision fusion across all packaging surfaces.</a:t>
            </a:r>
          </a:p>
        </p:txBody>
      </p:sp>
      <p:sp>
        <p:nvSpPr>
          <p:cNvPr id="12" name="Box 3"/>
          <p:cNvSpPr/>
          <p:nvPr/>
        </p:nvSpPr>
        <p:spPr>
          <a:xfrm>
            <a:off x="83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Court-Ready Certified Dossiers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Official Tricolor inspection certificates with bounding-box coordinate proof.</a:t>
            </a:r>
          </a:p>
        </p:txBody>
      </p:sp>
      <!-- Footer Bar -->
      <p:sp>
        <p:nvSpPr>
          <p:cNvPr id="99" name="Footer"/>
          <p:cNvSpPr/>
          <p:nvPr/>
        </p:nvSpPr>
        <p:spPr>
          <a:xfrm>
            <a:off x="750000" y="6100000"/>
            <a:ext cx="10692000" cy="400000"/>
          </a:xfrm>
          <a:prstGeom prst="rect">
            <a:avLst/>
          </a:prstGeom>
          <a:noFill/>
        </p:spPr>
        <p:txBody>
          <a:bodyPr lIns="0" tIns="0" rIns="0" bIns="0" wrap="square"/>
          <a:lstStyle/>
          <a:p>
            <a:r>
              <a:rPr lang="en-US" sz="1100">
                <a:solidFill>
                  <a:srgbClr val="64748B"/>
                </a:solidFill>
              </a:rPr>
              <a:t>LegalMetriX • Smart India Hackathon (SIH 2024) • Slide 3 / 10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officeDocument/2006/presentationml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Slide Title & Subtitle -->
      <p:sp>
        <p:nvSpPr>
          <p:cNvPr id="2" name="Title Box"/>
          <p:cNvSpPr/>
          <p:nvPr/>
        </p:nvSpPr>
        <p:spPr>
          <a:xfrm>
            <a:off x="750000" y="600000"/>
            <a:ext cx="10692000" cy="1800000"/>
          </a:xfrm>
          <a:prstGeom prst="rect">
            <a:avLst/>
          </a:prstGeom>
          <a:noFill/>
        </p:spPr>
        <p:txBody>
          <a:bodyPr lIns="0" tIns="0" rIns="0" bIns="0" wrap="square"/>
          <a:lstStyle/>
          <a:p>
            <a:r>
              <a:rPr lang="en-US" sz="3200" b="1">
                <a:solidFill>
                  <a:srgbClr val="FFFFFF"/>
                </a:solidFill>
              </a:rPr>
              <a:t>Core Technical Innovation: 360° Single-Clip Scanner</a:t>
            </a:r>
          </a:p>
          <a:p>
            <a:pPr spaceBefore="80000"/>
            <a:r>
              <a:rPr lang="en-US" sz="1600" b="1">
                <a:solidFill>
                  <a:srgbClr val="93C5FD"/>
                </a:solidFill>
              </a:rPr>
              <a:t>Seamless multi-surface capture without manual photo snapping</a:t>
            </a:r>
          </a:p>
        </p:txBody>
      </p:sp>
      <!-- Content Cards -->
      <p:sp>
        <p:nvSpPr>
          <p:cNvPr id="10" name="Box 1"/>
          <p:cNvSpPr/>
          <p:nvPr/>
        </p:nvSpPr>
        <p:spPr>
          <a:xfrm>
            <a:off x="7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1E40AF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Laplacian Sharpness Filter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Samples 24-36 frames, discarding motion blur via Var(Laplacian) scoring.</a:t>
            </a:r>
          </a:p>
        </p:txBody>
      </p:sp>
      <p:sp>
        <p:nvSpPr>
          <p:cNvPr id="11" name="Box 2"/>
          <p:cNvSpPr/>
          <p:nvPr/>
        </p:nvSpPr>
        <p:spPr>
          <a:xfrm>
            <a:off x="45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Surface Clustering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Clusters rotation angles into Front, Right, Back, Left, Top, and Base.</a:t>
            </a:r>
          </a:p>
        </p:txBody>
      </p:sp>
      <p:sp>
        <p:nvSpPr>
          <p:cNvPr id="12" name="Box 3"/>
          <p:cNvSpPr/>
          <p:nvPr/>
        </p:nvSpPr>
        <p:spPr>
          <a:xfrm>
            <a:off x="83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360° Coverage Matrix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Displays 5/6 surfaces verified; unseen surfaces trigger 'Needs Review'.</a:t>
            </a:r>
          </a:p>
        </p:txBody>
      </p:sp>
      <!-- Footer Bar -->
      <p:sp>
        <p:nvSpPr>
          <p:cNvPr id="99" name="Footer"/>
          <p:cNvSpPr/>
          <p:nvPr/>
        </p:nvSpPr>
        <p:spPr>
          <a:xfrm>
            <a:off x="750000" y="6100000"/>
            <a:ext cx="10692000" cy="400000"/>
          </a:xfrm>
          <a:prstGeom prst="rect">
            <a:avLst/>
          </a:prstGeom>
          <a:noFill/>
        </p:spPr>
        <p:txBody>
          <a:bodyPr lIns="0" tIns="0" rIns="0" bIns="0" wrap="square"/>
          <a:lstStyle/>
          <a:p>
            <a:r>
              <a:rPr lang="en-US" sz="1100">
                <a:solidFill>
                  <a:srgbClr val="64748B"/>
                </a:solidFill>
              </a:rPr>
              <a:t>LegalMetriX • Smart India Hackathon (SIH 2024) • Slide 4 / 10</a:t>
            </a:r>
          </a:p>
        </p:txBody>
      </p:sp>
    </p:spTree>
  </p:cSld>
</p:sld>
</file>

<file path=ppt/slides/slide5.xml><?xml version="1.0" encoding="UTF-8" standalone="yes"?>
<p:sld xmlns:a="http://schemas.openxmlformats.org/drawingml/2006/main" xmlns:r="http://schemas.openxmlformats.org/officeDocument/2006/relationships" xmlns:p="http://schemas.openxmlformats.org/officeDocument/2006/presentationml">
  <p:cSld>
    <p:bg>
      <p:bgPr>
        <a:solidFill><a:srgbClr val="0F172A"/></a:solidFill>
      </p:bgPr>
    </p:bg>
    <p:spTree>
      <p:nvGrpSpPr>
        <p:cNvPr id="1" name=""/>
        <p:cNvGrpSpPr/>
        <p:nvPr/>
      </p:nvGrpSpPr>
      <p:grpSpPr>
        <a:xfrm><a:off x="0" y="0"/><a:ext cx="0" cy="0"/><a:chOff x="0" y="0"/><a:chExt cx="0" cy="0"/></a:xfrm>
      </p:grpSpPr>
      
      <!-- Slide Title & Subtitle -->
      <p:sp>
        <p:nvSpPr>
          <p:cNvPr id="2" name="Title Box"/>
          <p:cNvSpPr/>
          <p:nvPr/>
        </p:nvSpPr>
        <p:spPr>
          <a:xfrm><a:off x="750000" y="600000"/><a:ext cx="10692000" cy="18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3200" b="1">
                <a:solidFill><a:srgbClr val="FFFFFF"/></a:solidFill>
              </a:rPr>
              <a:t>Mandatory Declarations & Readability Analysis</a:t>
            </a:r>
          </a:p>
          <a:p>
            <a:pPr spaceBefore="80000"/>
            <a:r>
              <a:rPr lang="en-US" sz="1600" b="1">
                <a:solidFill><a:srgbClr val="93C5FD"/></a:solidFill>
              </a:rPr>
              <a:t>Auditing 10 statutory declarations under Rule 6 and Rule 12 (LMR 2011)</a:t>
            </a:r>
          </a:p>
        </p:txBody>
      </p:sp>

      <!-- Content Cards -->
      
      <p:sp>
        <p:nvSpPr>
          <p:cNvPr id="10" name="Box 1"/>
          <p:cNvSpPr/>
          <p:nvPr/>
        </p:nvSpPr>
        <p:spPr>
          <a:xfrm>
            <a:off x="7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E40AF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10 Mandatory Declarations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Product Name, MRP ₹, Net Qty, Mfg Name & Address, Dates, Expiry, Care, Origin, FSSAI.</a:t>
            </a:r>
          </a:p>
        </p:txBody>
      </p:sp>
      <p:sp>
        <p:nvSpPr>
          <p:cNvPr id="11" name="Box 2"/>
          <p:cNvSpPr/>
          <p:nvPr/>
        </p:nvSpPr>
        <p:spPr>
          <a:xfrm>
            <a:off x="45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F59E0B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Font-Size & Contrast Index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Character height ratio estimation and 94% visual contrast verification.</a:t>
            </a:r>
          </a:p>
        </p:txBody>
      </p:sp>
      <p:sp>
        <p:nvSpPr>
          <p:cNvPr id="12" name="Box 3"/>
          <p:cNvSpPr/>
          <p:nvPr/>
        </p:nvSpPr>
        <p:spPr>
          <a:xfrm>
            <a:off x="83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0B981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PDP Conspicuous Placement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Evaluates principal display panel grouping without deceptive overlaps.</a:t>
            </a:r>
          </a:p>
        </p:txBody>
      </p:sp>

      <!-- Footer Bar -->
      <p:sp>
        <p:nvSpPr>
          <p:cNvPr id="99" name="Footer"/>
          <p:cNvSpPr/>
          <p:nvPr/>
        </p:nvSpPr>
        <p:spPr>
          <a:xfrm><a:off x="750000" y="6100000"/><a:ext cx="10692000" cy="4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1100">
                <a:solidFill><a:srgbClr val="64748B"/></a:solidFill>
              </a:rPr>
              <a:t>LegalMetriX • Smart India Hackathon (SIH 2024) • Slide 5 / 10</a:t>
            </a:r>
          </a:p>
        </p:txBody>
      </p:sp>

    </p:spTree>
  </p:cSld>
</p:sld>
</file>

<file path=ppt/slides/slide6.xml><?xml version="1.0" encoding="UTF-8" standalone="yes"?>
<p:sld xmlns:a="http://schemas.openxmlformats.org/drawingml/2006/main" xmlns:r="http://schemas.openxmlformats.org/officeDocument/2006/relationships" xmlns:p="http://schemas.openxmlformats.org/officeDocument/2006/presentationml">
  <p:cSld>
    <p:bg>
      <p:bgPr>
        <a:solidFill><a:srgbClr val="0F172A"/></a:solidFill>
      </p:bgPr>
    </p:bg>
    <p:spTree>
      <p:nvGrpSpPr>
        <p:cNvPr id="1" name=""/>
        <p:cNvGrpSpPr/>
        <p:nvPr/>
      </p:nvGrpSpPr>
      <p:grpSpPr>
        <a:xfrm><a:off x="0" y="0"/><a:ext cx="0" cy="0"/><a:chOff x="0" y="0"/><a:chExt cx="0" cy="0"/></a:xfrm>
      </p:grpSpPr>
      
      <!-- Slide Title & Subtitle -->
      <p:sp>
        <p:nvSpPr>
          <p:cNvPr id="2" name="Title Box"/>
          <p:cNvSpPr/>
          <p:nvPr/>
        </p:nvSpPr>
        <p:spPr>
          <a:xfrm><a:off x="750000" y="600000"/><a:ext cx="10692000" cy="18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3200" b="1">
                <a:solidFill><a:srgbClr val="FFFFFF"/></a:solidFill>
              </a:rPr>
              <a:t>Explainable 3-State Verdict & 100-Point Scoring</a:t>
            </a:r>
          </a:p>
          <a:p>
            <a:pPr spaceBefore="80000"/>
            <a:r>
              <a:rPr lang="en-US" sz="1600" b="1">
                <a:solidFill><a:srgbClr val="93C5FD"/></a:solidFill>
              </a:rPr>
              <a:t>Eliminating false accusations through evidentiary regulatory logic</a:t>
            </a:r>
          </a:p>
        </p:txBody>
      </p:sp>

      <!-- Content Cards -->
      
      <p:sp>
        <p:nvSpPr>
          <p:cNvPr id="10" name="Box 1"/>
          <p:cNvSpPr/>
          <p:nvPr/>
        </p:nvSpPr>
        <p:spPr>
          <a:xfrm>
            <a:off x="7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E40AF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COMPLIANT (85-100 pts)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All mandatory declarations verified in statutory metric units and taxes.</a:t>
            </a:r>
          </a:p>
        </p:txBody>
      </p:sp>
      <p:sp>
        <p:nvSpPr>
          <p:cNvPr id="11" name="Box 2"/>
          <p:cNvSpPr/>
          <p:nvPr/>
        </p:nvSpPr>
        <p:spPr>
          <a:xfrm>
            <a:off x="45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F59E0B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NEEDS REVIEW (55-84 pts)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Partially obscured angle routed to officer queue without false penalty.</a:t>
            </a:r>
          </a:p>
        </p:txBody>
      </p:sp>
      <p:sp>
        <p:nvSpPr>
          <p:cNvPr id="12" name="Box 3"/>
          <p:cNvSpPr/>
          <p:nvPr/>
        </p:nvSpPr>
        <p:spPr>
          <a:xfrm>
            <a:off x="83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0B981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NON-COMPLIANT (<50 pts)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Conclusive evidence of missing MRP, deceptive units, or expired commodity.</a:t>
            </a:r>
          </a:p>
        </p:txBody>
      </p:sp>

      <!-- Footer Bar -->
      <p:sp>
        <p:nvSpPr>
          <p:cNvPr id="99" name="Footer"/>
          <p:cNvSpPr/>
          <p:nvPr/>
        </p:nvSpPr>
        <p:spPr>
          <a:xfrm><a:off x="750000" y="6100000"/><a:ext cx="10692000" cy="4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1100">
                <a:solidFill><a:srgbClr val="64748B"/></a:solidFill>
              </a:rPr>
              <a:t>LegalMetriX • Smart India Hackathon (SIH 2024) • Slide 6 / 10</a:t>
            </a:r>
          </a:p>
        </p:txBody>
      </p:sp>

    </p:spTree>
  </p:cSld>
</p:sld>
</file>

<file path=ppt/slides/slide7.xml><?xml version="1.0" encoding="UTF-8" standalone="yes"?>
<p:sld xmlns:a="http://schemas.openxmlformats.org/drawingml/2006/main" xmlns:r="http://schemas.openxmlformats.org/officeDocument/2006/relationships" xmlns:p="http://schemas.openxmlformats.org/officeDocument/2006/presentationml">
  <p:cSld>
    <p:bg>
      <p:bgPr>
        <a:solidFill><a:srgbClr val="0F172A"/></a:solidFill>
      </p:bgPr>
    </p:bg>
    <p:spTree>
      <p:nvGrpSpPr>
        <p:cNvPr id="1" name=""/>
        <p:cNvGrpSpPr/>
        <p:nvPr/>
      </p:nvGrpSpPr>
      <p:grpSpPr>
        <a:xfrm><a:off x="0" y="0"/><a:ext cx="0" cy="0"/><a:chOff x="0" y="0"/><a:chExt cx="0" cy="0"/></a:xfrm>
      </p:grpSpPr>
      
      <!-- Slide Title & Subtitle -->
      <p:sp>
        <p:nvSpPr>
          <p:cNvPr id="2" name="Title Box"/>
          <p:cNvSpPr/>
          <p:nvPr/>
        </p:nvSpPr>
        <p:spPr>
          <a:xfrm><a:off x="750000" y="600000"/><a:ext cx="10692000" cy="18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3200" b="1">
                <a:solidFill><a:srgbClr val="FFFFFF"/></a:solidFill>
              </a:rPr>
              <a:t>Enforcement Dashboard & Certified PDF Reports</a:t>
            </a:r>
          </a:p>
          <a:p>
            <a:pPr spaceBefore="80000"/>
            <a:r>
              <a:rPr lang="en-US" sz="1600" b="1">
                <a:solidFill><a:srgbClr val="93C5FD"/></a:solidFill>
              </a:rPr>
              <a:t>Real-time market analytics and administrative oversight</a:t>
            </a:r>
          </a:p>
        </p:txBody>
      </p:sp>

      <!-- Content Cards -->
      
      <p:sp>
        <p:nvSpPr>
          <p:cNvPr id="10" name="Box 1"/>
          <p:cNvSpPr/>
          <p:nvPr/>
        </p:nvSpPr>
        <p:spPr>
          <a:xfrm>
            <a:off x="7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E40AF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Live Audit Stream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Instant logging of retail market inspections with officer ID and timestamps.</a:t>
            </a:r>
          </a:p>
        </p:txBody>
      </p:sp>
      <p:sp>
        <p:nvSpPr>
          <p:cNvPr id="11" name="Box 2"/>
          <p:cNvSpPr/>
          <p:nvPr/>
        </p:nvSpPr>
        <p:spPr>
          <a:xfrm>
            <a:off x="45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F59E0B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Violation Trends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Real-time charts tracking MRP, Net Quantity, and Manufacturer Address breaches.</a:t>
            </a:r>
          </a:p>
        </p:txBody>
      </p:sp>
      <p:sp>
        <p:nvSpPr>
          <p:cNvPr id="12" name="Box 3"/>
          <p:cNvSpPr/>
          <p:nvPr/>
        </p:nvSpPr>
        <p:spPr>
          <a:xfrm>
            <a:off x="83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0B981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Role-Based Access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Dedicated portals for Field Inspectors, Supervisors, and State Administrators.</a:t>
            </a:r>
          </a:p>
        </p:txBody>
      </p:sp>

      <!-- Footer Bar -->
      <p:sp>
        <p:nvSpPr>
          <p:cNvPr id="99" name="Footer"/>
          <p:cNvSpPr/>
          <p:nvPr/>
        </p:nvSpPr>
        <p:spPr>
          <a:xfrm><a:off x="750000" y="6100000"/><a:ext cx="10692000" cy="4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1100">
                <a:solidFill><a:srgbClr val="64748B"/></a:solidFill>
              </a:rPr>
              <a:t>LegalMetriX • Smart India Hackathon (SIH 2024) • Slide 7 / 10</a:t>
            </a:r>
          </a:p>
        </p:txBody>
      </p:sp>
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officeDocument/2006/presentationml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Slide Title & Subtitle -->
      <p:sp>
        <p:nvSpPr>
          <p:cNvPr id="2" name="Title Box"/>
          <p:cNvSpPr/>
          <p:nvPr/>
        </p:nvSpPr>
        <p:spPr>
          <a:xfrm>
            <a:off x="750000" y="600000"/>
            <a:ext cx="10692000" cy="1800000"/>
          </a:xfrm>
          <a:prstGeom prst="rect">
            <a:avLst/>
          </a:prstGeom>
          <a:noFill/>
        </p:spPr>
        <p:txBody>
          <a:bodyPr lIns="0" tIns="0" rIns="0" bIns="0" wrap="square"/>
          <a:lstStyle/>
          <a:p>
            <a:r>
              <a:rPr lang="en-US" sz="3200" b="1">
                <a:solidFill>
                  <a:srgbClr val="FFFFFF"/>
                </a:solidFill>
              </a:rPr>
              <a:t>Why LegalMetriX Wins: Competitive Differentiators</a:t>
            </a:r>
          </a:p>
          <a:p>
            <a:pPr spaceBefore="80000"/>
            <a:r>
              <a:rPr lang="en-US" sz="1600" b="1">
                <a:solidFill>
                  <a:srgbClr val="93C5FD"/>
                </a:solidFill>
              </a:rPr>
              <a:t>Engineered for real-world government enforcement deployment</a:t>
            </a:r>
          </a:p>
        </p:txBody>
      </p:sp>
      <!-- Content Cards -->
      <p:sp>
        <p:nvSpPr>
          <p:cNvPr id="10" name="Box 1"/>
          <p:cNvSpPr/>
          <p:nvPr/>
        </p:nvSpPr>
        <p:spPr>
          <a:xfrm>
            <a:off x="7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1E40AF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One Continuous 360° Clip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No tedious 6-photo manual capture; automatic blur suppression.</a:t>
            </a:r>
          </a:p>
        </p:txBody>
      </p:sp>
      <p:sp>
        <p:nvSpPr>
          <p:cNvPr id="11" name="Box 2"/>
          <p:cNvSpPr/>
          <p:nvPr/>
        </p:nvSpPr>
        <p:spPr>
          <a:xfrm>
            <a:off x="45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3-State Regulatory Logic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Zero false-positive violations on partially visible product panels.</a:t>
            </a:r>
          </a:p>
        </p:txBody>
      </p:sp>
      <p:sp>
        <p:nvSpPr>
          <p:cNvPr id="12" name="Box 3"/>
          <p:cNvSpPr/>
          <p:nvPr/>
        </p:nvSpPr>
        <p:spPr>
          <a:xfrm>
            <a:off x="8350000" y="2800000"/>
            <a:ext cx="3400000" cy="280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Field Officer Ready</a:t>
            </a:r>
          </a:p>
          <a:p>
            <a:pPr algn="l" spaceBefore="120000"/>
            <a:r>
              <a:rPr lang="en-US" sz="1300">
                <a:solidFill>
                  <a:srgbClr val="CBD5E1"/>
                </a:solidFill>
              </a:rPr>
              <a:t>Multilingual (EN, HI, TE), Offline IndexedDB sync, and CSV data exports.</a:t>
            </a:r>
          </a:p>
        </p:txBody>
      </p:sp>
      <!-- Footer Bar -->
      <p:sp>
        <p:nvSpPr>
          <p:cNvPr id="99" name="Footer"/>
          <p:cNvSpPr/>
          <p:nvPr/>
        </p:nvSpPr>
        <p:spPr>
          <a:xfrm>
            <a:off x="750000" y="6100000"/>
            <a:ext cx="10692000" cy="400000"/>
          </a:xfrm>
          <a:prstGeom prst="rect">
            <a:avLst/>
          </a:prstGeom>
          <a:noFill/>
        </p:spPr>
        <p:txBody>
          <a:bodyPr lIns="0" tIns="0" rIns="0" bIns="0" wrap="square"/>
          <a:lstStyle/>
          <a:p>
            <a:r>
              <a:rPr lang="en-US" sz="1100">
                <a:solidFill>
                  <a:srgbClr val="64748B"/>
                </a:solidFill>
              </a:rPr>
              <a:t>LegalMetriX • Smart India Hackathon (SIH 2024) • Slide 8 / 10</a:t>
            </a:r>
          </a:p>
        </p:txBody>
      </p:sp>
    </p:spTree>
  </p:cSld>
</p:sld>
</file>

<file path=ppt/slides/slide9.xml><?xml version="1.0" encoding="UTF-8" standalone="yes"?>
<p:sld xmlns:a="http://schemas.openxmlformats.org/drawingml/2006/main" xmlns:r="http://schemas.openxmlformats.org/officeDocument/2006/relationships" xmlns:p="http://schemas.openxmlformats.org/officeDocument/2006/presentationml">
  <p:cSld>
    <p:bg>
      <p:bgPr>
        <a:solidFill><a:srgbClr val="0F172A"/></a:solidFill>
      </p:bgPr>
    </p:bg>
    <p:spTree>
      <p:nvGrpSpPr>
        <p:cNvPr id="1" name=""/>
        <p:cNvGrpSpPr/>
        <p:nvPr/>
      </p:nvGrpSpPr>
      <p:grpSpPr>
        <a:xfrm><a:off x="0" y="0"/><a:ext cx="0" cy="0"/><a:chOff x="0" y="0"/><a:chExt cx="0" cy="0"/></a:xfrm>
      </p:grpSpPr>
      
      <!-- Slide Title & Subtitle -->
      <p:sp>
        <p:nvSpPr>
          <p:cNvPr id="2" name="Title Box"/>
          <p:cNvSpPr/>
          <p:nvPr/>
        </p:nvSpPr>
        <p:spPr>
          <a:xfrm><a:off x="750000" y="600000"/><a:ext cx="10692000" cy="18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3200" b="1">
                <a:solidFill><a:srgbClr val="FFFFFF"/></a:solidFill>
              </a:rPr>
              <a:t>Live Demonstration & System Verification</a:t>
            </a:r>
          </a:p>
          <a:p>
            <a:pPr spaceBefore="80000"/>
            <a:r>
              <a:rPr lang="en-US" sz="1600" b="1">
                <a:solidFill><a:srgbClr val="93C5FD"/></a:solidFill>
              </a:rPr>
              <a:t>5-step workflow from camera rotation to certified inspection PDF</a:t>
            </a:r>
          </a:p>
        </p:txBody>
      </p:sp>

      <!-- Content Cards -->
      
      <p:sp>
        <p:nvSpPr>
          <p:cNvPr id="10" name="Box 1"/>
          <p:cNvSpPr/>
          <p:nvPr/>
        </p:nvSpPr>
        <p:spPr>
          <a:xfrm>
            <a:off x="7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E40AF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Step 1-2: Capture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Live 360° camera rotation with angle guidance HUD.</a:t>
            </a:r>
          </a:p>
        </p:txBody>
      </p:sp>
      <p:sp>
        <p:nvSpPr>
          <p:cNvPr id="11" name="Box 2"/>
          <p:cNvSpPr/>
          <p:nvPr/>
        </p:nvSpPr>
        <p:spPr>
          <a:xfrm>
            <a:off x="45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F59E0B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Step 3-4: AI Fusion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Auto-fills 10 declarations with bounding-box evidence highlights.</a:t>
            </a:r>
          </a:p>
        </p:txBody>
      </p:sp>
      <p:sp>
        <p:nvSpPr>
          <p:cNvPr id="12" name="Box 3"/>
          <p:cNvSpPr/>
          <p:nvPr/>
        </p:nvSpPr>
        <p:spPr>
          <a:xfrm>
            <a:off x="83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0B981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Step 5: Official PDF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Generates Tricolor SIH inspection certificate with statutory citations.</a:t>
            </a:r>
          </a:p>
        </p:txBody>
      </p:sp>

      <!-- Footer Bar -->
      <p:sp>
        <p:nvSpPr>
          <p:cNvPr id="99" name="Footer"/>
          <p:cNvSpPr/>
          <p:nvPr/>
        </p:nvSpPr>
        <p:spPr>
          <a:xfrm><a:off x="750000" y="6100000"/><a:ext cx="10692000" cy="4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1100">
                <a:solidFill><a:srgbClr val="64748B"/></a:solidFill>
              </a:rPr>
              <a:t>LegalMetriX • Smart India Hackathon (SIH 2024) • Slide 9 / 10</a:t>
            </a:r>
          </a:p>
        </p:txBody>
      </p:sp>

    </p:spTree>
  </p:cSld>
</p:sld>
</file>

<file path=ppt/slides/slide10.xml><?xml version="1.0" encoding="UTF-8" standalone="yes"?>
<p:sld xmlns:a="http://schemas.openxmlformats.org/drawingml/2006/main" xmlns:r="http://schemas.openxmlformats.org/officeDocument/2006/relationships" xmlns:p="http://schemas.openxmlformats.org/officeDocument/2006/presentationml">
  <p:cSld>
    <p:bg>
      <p:bgPr>
        <a:solidFill><a:srgbClr val="0F172A"/></a:solidFill>
      </p:bgPr>
    </p:bg>
    <p:spTree>
      <p:nvGrpSpPr>
        <p:cNvPr id="1" name=""/>
        <p:cNvGrpSpPr/>
        <p:nvPr/>
      </p:nvGrpSpPr>
      <p:grpSpPr>
        <a:xfrm><a:off x="0" y="0"/><a:ext cx="0" cy="0"/><a:chOff x="0" y="0"/><a:chExt cx="0" cy="0"/></a:xfrm>
      </p:grpSpPr>
      
      <!-- Slide Title & Subtitle -->
      <p:sp>
        <p:nvSpPr>
          <p:cNvPr id="2" name="Title Box"/>
          <p:cNvSpPr/>
          <p:nvPr/>
        </p:nvSpPr>
        <p:spPr>
          <a:xfrm><a:off x="750000" y="600000"/><a:ext cx="10692000" cy="18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3200" b="1">
                <a:solidFill><a:srgbClr val="FFFFFF"/></a:solidFill>
              </a:rPr>
              <a:t>National Scalability, Impact & Future Roadmap</a:t>
            </a:r>
          </a:p>
          <a:p>
            <a:pPr spaceBefore="80000"/>
            <a:r>
              <a:rPr lang="en-US" sz="1600" b="1">
                <a:solidFill><a:srgbClr val="93C5FD"/></a:solidFill>
              </a:rPr>
              <a:t>Transforming consumer protection across India</a:t>
            </a:r>
          </a:p>
        </p:txBody>
      </p:sp>

      <!-- Content Cards -->
      
      <p:sp>
        <p:nvSpPr>
          <p:cNvPr id="10" name="Box 1"/>
          <p:cNvSpPr/>
          <p:nvPr/>
        </p:nvSpPr>
        <p:spPr>
          <a:xfrm>
            <a:off x="7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E40AF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E-Commerce Scraper Bot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Autonomous crawler validating Amazon, Blinkit, and Zepto product listings.</a:t>
            </a:r>
          </a:p>
        </p:txBody>
      </p:sp>
      <p:sp>
        <p:nvSpPr>
          <p:cNvPr id="11" name="Box 2"/>
          <p:cNvSpPr/>
          <p:nvPr/>
        </p:nvSpPr>
        <p:spPr>
          <a:xfrm>
            <a:off x="45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F59E0B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On-Device Edge AI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Quantized ONNX models running on rugged handheld officer terminals.</a:t>
            </a:r>
          </a:p>
        </p:txBody>
      </p:sp>
      <p:sp>
        <p:nvSpPr>
          <p:cNvPr id="12" name="Box 3"/>
          <p:cNvSpPr/>
          <p:nvPr/>
        </p:nvSpPr>
        <p:spPr>
          <a:xfrm>
            <a:off x="8350000" y="2800000"/>
            <a:ext cx="3400000" cy="2800000"/>
          </a:xfrm>
          <a:prstGeom prst="roundRect">
            <a:avLst><a:gd name="adj" fmla="val 12000"/></a:avLst>
          </a:prstGeom>
          <a:solidFill><a:srgbClr val="1E293B"/></a:solidFill>
          <a:ln w="25400"><a:solidFill><a:srgbClr val="10B981"/></a:solidFill></a:ln>
        </p:spPr>
        <p:txBody>
          <a:bodyPr lIns="200000" tIns="200000" rIns="200000" bIns="200000" wrap="square"/>
          <a:lstStyle/>
          <a:p>
            <a:pPr algn="l"/>
            <a:r>
              <a:rPr lang="en-US" sz="2000" b="1">
                <a:solidFill><a:srgbClr val="FFFFFF"/></a:solidFill>
              </a:rPr>
              <a:t>National Registry</a:t>
            </a:r>
          </a:p>
          <a:p>
            <a:pPr algn="l" spaceBefore="120000"/>
            <a:r>
              <a:rPr lang="en-US" sz="1300">
                <a:solidFill><a:srgbClr val="CBD5E1"/></a:solidFill>
              </a:rPr>
              <a:t>Centralized sync across 28 State Legal Metrology Directorates.</a:t>
            </a:r>
          </a:p>
        </p:txBody>
      </p:sp>

      <!-- Footer Bar -->
      <p:sp>
        <p:nvSpPr>
          <p:cNvPr id="99" name="Footer"/>
          <p:cNvSpPr/>
          <p:nvPr/>
        </p:nvSpPr>
        <p:spPr>
          <a:xfrm><a:off x="750000" y="6100000"/><a:ext cx="10692000" cy="400000"/></a:xfrm>
          <a:prstGeom prst="rect"><a:avLst/></a:prstGeom>
          <a:noFill/>
        </p:spPr>
        <p:txBody>
          <a:bodyPr lIns="0" tIns="0" rIns="0" bIns="0" wrap="square"/>
          <a:lstStyle/>
          <a:p>
            <a:r>
              <a:rPr lang="en-US" sz="1100">
                <a:solidFill><a:srgbClr val="64748B"/></a:solidFill>
              </a:rPr>
              <a:t>LegalMetriX • Smart India Hackathon (SIH 2024) • Slide 10 / 10</a:t>
            </a:r>
          </a:p>
        </p:txBody>
      </p:sp>

    </p:spTree>
  </p:cSld>
</p:sld>
</file>

<file path=ppt/theme/theme1.xml><?xml version="1.0" encoding="utf-8"?>
<a:theme xmlns:a="http://schemas.openxmlformats.org/drawingml/2006/main" name="LegalMetriX Theme">
  <a:themeElements>
    <a:clrScheme name="LegalMetriX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1E40AF"/>
      </a:accent1>
      <a:accent2>
        <a:srgbClr val="F59E0B"/>
      </a:accent2>
      <a:accent3>
        <a:srgbClr val="10B981"/>
      </a:accent3>
      <a:accent4>
        <a:srgbClr val="EF4444"/>
      </a:accent4>
      <a:accent5>
        <a:srgbClr val="6366F1"/>
      </a:accent5>
      <a:accent6>
        <a:srgbClr val="0284C7"/>
      </a:accent6>
      <a:hlink>
        <a:srgbClr val="2563EB"/>
      </a:hlink>
      <a:folHlink>
        <a:srgbClr val="7C3AED"/>
      </a:folHlink>
    </a:clrScheme>
    <a:fontScheme name="Modern Sans">
      <a:majorFont>
        <a:latin typeface="Segoe UI Semibold"/>
      </a:majorFont>
      <a:minorFont>
        <a:latin typeface="Segoe U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